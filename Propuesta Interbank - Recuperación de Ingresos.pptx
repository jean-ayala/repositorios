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Poppins"/>
      <p:regular r:id="rId7"/>
      <p:bold r:id="rId8"/>
      <p:italic r:id="rId9"/>
      <p:boldItalic r:id="rId10"/>
    </p:embeddedFont>
    <p:embeddedFont>
      <p:font typeface="Poppins Medium"/>
      <p:regular r:id="rId11"/>
      <p:bold r:id="rId12"/>
      <p:italic r:id="rId13"/>
      <p:boldItalic r:id="rId14"/>
    </p:embeddedFont>
    <p:embeddedFont>
      <p:font typeface="Poppins ExtraBold"/>
      <p:bold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Medium-regular.fntdata"/><Relationship Id="rId10" Type="http://schemas.openxmlformats.org/officeDocument/2006/relationships/font" Target="fonts/Poppins-boldItalic.fntdata"/><Relationship Id="rId13" Type="http://schemas.openxmlformats.org/officeDocument/2006/relationships/font" Target="fonts/PoppinsMedium-italic.fntdata"/><Relationship Id="rId12" Type="http://schemas.openxmlformats.org/officeDocument/2006/relationships/font" Target="fonts/Poppins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oppins-italic.fntdata"/><Relationship Id="rId15" Type="http://schemas.openxmlformats.org/officeDocument/2006/relationships/font" Target="fonts/PoppinsExtraBold-bold.fntdata"/><Relationship Id="rId14" Type="http://schemas.openxmlformats.org/officeDocument/2006/relationships/font" Target="fonts/PoppinsMedium-boldItalic.fntdata"/><Relationship Id="rId16" Type="http://schemas.openxmlformats.org/officeDocument/2006/relationships/font" Target="fonts/Poppins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oppins-regular.fntdata"/><Relationship Id="rId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4.png"/><Relationship Id="rId13" Type="http://schemas.openxmlformats.org/officeDocument/2006/relationships/image" Target="../media/image9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2.png"/><Relationship Id="rId15" Type="http://schemas.openxmlformats.org/officeDocument/2006/relationships/image" Target="../media/image11.png"/><Relationship Id="rId14" Type="http://schemas.openxmlformats.org/officeDocument/2006/relationships/image" Target="../media/image10.png"/><Relationship Id="rId16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8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7354490"/>
            <a:ext cx="112395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775221"/>
            <a:ext cx="3594050" cy="5341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8900" y="1775221"/>
            <a:ext cx="3594050" cy="5341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1550" y="1775221"/>
            <a:ext cx="3594199" cy="5341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3270646"/>
            <a:ext cx="30416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5125" y="3270646"/>
            <a:ext cx="30416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75125" y="4356496"/>
            <a:ext cx="975717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607992" y="4356496"/>
            <a:ext cx="975717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40859" y="4356496"/>
            <a:ext cx="975866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97775" y="3270646"/>
            <a:ext cx="3041749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476250" y="7506890"/>
            <a:ext cx="2581275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b="1" i="0" lang="en-US" sz="997" u="none" cap="none" strike="noStrik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Interbank </a:t>
            </a:r>
            <a:r>
              <a:rPr b="1" i="0" lang="en-US" sz="997" u="none" cap="none" strike="noStrike">
                <a:solidFill>
                  <a:srgbClr val="05BE50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b="1" i="0" lang="en-US" sz="997" u="none" cap="none" strike="noStrik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 Comité de Dirección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3505200" y="7506890"/>
            <a:ext cx="82105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b="0" i="0" lang="en-US" sz="997" u="none" cap="none" strike="noStrike">
                <a:solidFill>
                  <a:srgbClr val="54545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*Retorno Anual Estimado Directo (Tarde + Sábado): </a:t>
            </a:r>
            <a:r>
              <a:rPr b="1" i="0" lang="en-US" sz="997" u="none" cap="none" strike="noStrike">
                <a:solidFill>
                  <a:srgbClr val="05BE50"/>
                </a:solidFill>
                <a:latin typeface="Poppins"/>
                <a:ea typeface="Poppins"/>
                <a:cs typeface="Poppins"/>
                <a:sym typeface="Poppins"/>
              </a:rPr>
              <a:t>S/ 16,260</a:t>
            </a:r>
            <a:r>
              <a:rPr b="0" i="0" lang="en-US" sz="997" u="none" cap="none" strike="noStrike">
                <a:solidFill>
                  <a:srgbClr val="54545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(Basado en supuestos mínimos de conversión y ticket de S/ 300)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6250" y="428625"/>
            <a:ext cx="9001125" cy="832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1F3A8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Recuperación de Ingresos Inbound Post-Horario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666750" y="1318021"/>
            <a:ext cx="8382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0" i="0" lang="en-US" sz="1162" u="none" cap="none" strike="noStrike">
                <a:solidFill>
                  <a:srgbClr val="54545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"No estamos perdiendo llamadas, estamos </a:t>
            </a:r>
            <a:r>
              <a:rPr b="1" i="0" lang="en-US" sz="1162" u="none" cap="none" strike="noStrike">
                <a:solidFill>
                  <a:srgbClr val="05BE50"/>
                </a:solidFill>
                <a:latin typeface="Poppins"/>
                <a:ea typeface="Poppins"/>
                <a:cs typeface="Poppins"/>
                <a:sym typeface="Poppins"/>
              </a:rPr>
              <a:t>perdiendo el momento exacto</a:t>
            </a:r>
            <a:r>
              <a:rPr b="0" i="0" lang="en-US" sz="1162" u="none" cap="none" strike="noStrike">
                <a:solidFill>
                  <a:srgbClr val="54545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en que el cliente decide pagar"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10539412" y="509587"/>
            <a:ext cx="209550" cy="209550"/>
          </a:xfrm>
          <a:prstGeom prst="roundRect">
            <a:avLst>
              <a:gd fmla="val 13636" name="adj"/>
            </a:avLst>
          </a:prstGeom>
          <a:solidFill>
            <a:srgbClr val="05B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10825162" y="476250"/>
            <a:ext cx="8905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Interbank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0" name="Google Shape;100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6250" y="1353740"/>
            <a:ext cx="114300" cy="147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52475" y="2384821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981075" y="2013346"/>
            <a:ext cx="29536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6"/>
              <a:buFont typeface="Arial"/>
              <a:buNone/>
            </a:pPr>
            <a:r>
              <a:rPr b="1" i="0" lang="en-US" sz="2396" u="none" cap="none" strike="noStrik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1. Fuga del Flujo Inbound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752475" y="4308871"/>
            <a:ext cx="3041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Inbound Mensual Total: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1200" u="none" cap="none" strike="noStrik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11,269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752475" y="4604146"/>
            <a:ext cx="3041600" cy="9525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752475" y="4747021"/>
            <a:ext cx="3041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Llamadas CJ / Mes: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1200" u="none" cap="none" strike="noStrik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2,219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752475" y="5042296"/>
            <a:ext cx="3041600" cy="9525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752475" y="5185171"/>
            <a:ext cx="304160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b="1" i="0" lang="en-US" sz="1125" u="none" cap="none" strike="noStrik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Fuga crítica detectada:</a:t>
            </a:r>
            <a:r>
              <a:rPr b="0" i="0" lang="en-US" sz="1125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2% de estas llamadas ocurren post 5:30 p.m. (~46 casos/mes).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752475" y="5940028"/>
            <a:ext cx="304160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b="1" i="0" lang="en-US" sz="1125" u="none" cap="none" strike="noStrik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Fricción de Sábados:</a:t>
            </a:r>
            <a:r>
              <a:rPr b="0" i="0" lang="en-US" sz="1125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10% de llamadas ocurren en la mañana sin especialistas libres (~40 casos/mes).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9" name="Google Shape;109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575125" y="238482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 txBox="1"/>
          <p:nvPr/>
        </p:nvSpPr>
        <p:spPr>
          <a:xfrm>
            <a:off x="4841825" y="2013346"/>
            <a:ext cx="291364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6"/>
              <a:buFont typeface="Arial"/>
              <a:buNone/>
            </a:pPr>
            <a:r>
              <a:rPr b="1" i="0" lang="en-US" sz="2396" u="none" cap="none" strike="noStrik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2. Fórmula de Conversión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4575125" y="4813696"/>
            <a:ext cx="30416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b="1" i="0" lang="en-US" sz="1125" u="none" cap="none" strike="noStrik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86 casos mensuales</a:t>
            </a:r>
            <a:r>
              <a:rPr b="0" i="0" lang="en-US" sz="1125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con intención en caliente que hoy se interrumpen.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4575125" y="5361384"/>
            <a:ext cx="304160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b="1" i="0" lang="en-US" sz="1125" u="none" cap="none" strike="noStrik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30 clientes mensuales</a:t>
            </a:r>
            <a:r>
              <a:rPr b="0" i="0" lang="en-US" sz="1125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listos para comprometer o efectuar su pago de inmediato.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4575125" y="6116240"/>
            <a:ext cx="304160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b="1" i="0" lang="en-US" sz="1125" u="none" cap="none" strike="noStrike">
                <a:solidFill>
                  <a:srgbClr val="05BE50"/>
                </a:solidFill>
                <a:latin typeface="Poppins"/>
                <a:ea typeface="Poppins"/>
                <a:cs typeface="Poppins"/>
                <a:sym typeface="Poppins"/>
              </a:rPr>
              <a:t>S/ 1,355 al mes:</a:t>
            </a:r>
            <a:r>
              <a:rPr b="0" i="0" lang="en-US" sz="1125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Deuda recuperada directamente en primer contacto (con ticket mínimo S/ 300).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4" name="Google Shape;114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397775" y="2384821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3"/>
          <p:cNvSpPr txBox="1"/>
          <p:nvPr/>
        </p:nvSpPr>
        <p:spPr>
          <a:xfrm>
            <a:off x="8683525" y="2013346"/>
            <a:ext cx="2893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6"/>
              <a:buFont typeface="Arial"/>
              <a:buNone/>
            </a:pPr>
            <a:r>
              <a:rPr b="1" i="0" lang="en-US" sz="2396" u="none" cap="none" strike="noStrik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3. Impacto Operativo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8397775" y="4308871"/>
            <a:ext cx="304174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Ahorro en Eficiencia: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1200" u="none" cap="none" strike="noStrik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0.8 ETP/Mes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8397775" y="4604146"/>
            <a:ext cx="3041749" cy="9525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8397775" y="4747021"/>
            <a:ext cx="3041749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b="1" i="0" lang="en-US" sz="1125" u="none" cap="none" strike="noStrik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Eliminación de la transferencia:</a:t>
            </a:r>
            <a:r>
              <a:rPr b="0" i="0" lang="en-US" sz="1125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Cualquier asesor procesa y resuelve el caso sin depender de especialistas.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8397775" y="5501878"/>
            <a:ext cx="3041749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b="1" i="0" lang="en-US" sz="1125" u="none" cap="none" strike="noStrik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Evita enfriamiento de cartera:</a:t>
            </a:r>
            <a:r>
              <a:rPr b="0" i="0" lang="en-US" sz="1125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No se posterga la llamada; se cierra la promesa de pago de inmediato.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8397775" y="6256734"/>
            <a:ext cx="3041749" cy="601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b="1" i="0" lang="en-US" sz="1125" u="none" cap="none" strike="noStrike">
                <a:solidFill>
                  <a:srgbClr val="1F3A8A"/>
                </a:solidFill>
                <a:latin typeface="Poppins"/>
                <a:ea typeface="Poppins"/>
                <a:cs typeface="Poppins"/>
                <a:sym typeface="Poppins"/>
              </a:rPr>
              <a:t>Menos carga operativa:</a:t>
            </a:r>
            <a:r>
              <a:rPr b="0" i="0" lang="en-US" sz="1125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Cero doble validación y llamadas de seguimiento redundantes.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