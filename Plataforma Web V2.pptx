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4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4"/>
    <p:sldMasterId id="2147483651" r:id="rId5"/>
    <p:sldMasterId id="2147483748" r:id="rId6"/>
    <p:sldMasterId id="2147483677" r:id="rId7"/>
    <p:sldMasterId id="2147483714" r:id="rId8"/>
  </p:sldMasterIdLst>
  <p:notesMasterIdLst>
    <p:notesMasterId r:id="rId14"/>
  </p:notesMasterIdLst>
  <p:handoutMasterIdLst>
    <p:handoutMasterId r:id="rId15"/>
  </p:handoutMasterIdLst>
  <p:sldIdLst>
    <p:sldId id="272" r:id="rId9"/>
    <p:sldId id="291" r:id="rId10"/>
    <p:sldId id="256" r:id="rId11"/>
    <p:sldId id="289" r:id="rId12"/>
    <p:sldId id="290" r:id="rId1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C52"/>
    <a:srgbClr val="00C23E"/>
    <a:srgbClr val="008F28"/>
    <a:srgbClr val="003AAC"/>
    <a:srgbClr val="00D400"/>
    <a:srgbClr val="36A70D"/>
    <a:srgbClr val="69B52C"/>
    <a:srgbClr val="004914"/>
    <a:srgbClr val="1A1E18"/>
    <a:srgbClr val="05B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4660"/>
  </p:normalViewPr>
  <p:slideViewPr>
    <p:cSldViewPr snapToGrid="0">
      <p:cViewPr varScale="1">
        <p:scale>
          <a:sx n="78" d="100"/>
          <a:sy n="78" d="100"/>
        </p:scale>
        <p:origin x="89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6" d="100"/>
          <a:sy n="46" d="100"/>
        </p:scale>
        <p:origin x="1872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2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E86F403-E37C-F093-5CB7-515C1C8345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4355575-C86E-12F2-073B-FD19D5B6BE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5CFD5-36D8-4F7C-B782-2EA006FF1A97}" type="datetimeFigureOut">
              <a:rPr lang="es-PE" smtClean="0"/>
              <a:t>6/07/2026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F672AF0-A779-8C59-3085-1F0AA4549BF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02DE70D-8E2F-3A94-1E4A-D169749C97D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5887C-5F11-4608-B893-5F9DC66E7FA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695219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235B64-E2B2-4684-B49E-DE244556765C}" type="datetimeFigureOut">
              <a:rPr lang="es-PE" smtClean="0"/>
              <a:t>6/07/2026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71268E-895B-4631-94FA-CAE74CF8D9B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17723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426B9-6DFD-D98C-AFAA-28B61EA18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B0B44BC-DE4F-26BA-93F1-3E335FF25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3DCE7B5-BE8A-E6C6-79AE-C7BC6FEA9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DC7E7B-C198-9F12-45C3-77A9B61354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853E98-9BA5-4A9E-992C-7CF7998F2290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33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07A58-3FCE-03A8-5EAF-DD6612BF1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6E9DA18-796B-08F2-E8F1-914AC6FA1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1978FBE-30E9-2E56-9474-F320297E2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35CB90D-3DD2-251D-9CD7-2723B83524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853E98-9BA5-4A9E-992C-7CF7998F2290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6526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372E0-4433-5848-3A9B-9C99F44A0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8A8C5F5-1F87-5B75-49AD-25A0BD7D6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501C92B-65F2-B3E2-8D1E-FB3A106CA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DAE2226-BA88-4B3A-1B1E-81A7EF2A9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853E98-9BA5-4A9E-992C-7CF7998F2290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8199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7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30.jp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1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32.jp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34.jp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34.jp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34.jp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_ver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A30660A2-5283-329B-60BF-97AC55376E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3751A84-9BB3-7C26-A4CA-CF46567D57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38400"/>
            <a:ext cx="9144000" cy="1905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r>
              <a:rPr lang="es-ES" dirty="0"/>
              <a:t>Títulos</a:t>
            </a:r>
            <a:endParaRPr lang="es-PE" dirty="0"/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2A5C5461-7945-A1EC-B771-683D8FE508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375" y="460375"/>
            <a:ext cx="460375" cy="46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48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_azu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Patrón de fondo&#10;&#10;El contenido generado por IA puede ser incorrecto.">
            <a:extLst>
              <a:ext uri="{FF2B5EF4-FFF2-40B4-BE49-F238E27FC236}">
                <a16:creationId xmlns:a16="http://schemas.microsoft.com/office/drawing/2014/main" id="{E132C191-E2CE-2D0C-F487-F6772CC2EE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3751A84-9BB3-7C26-A4CA-CF46567D57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38400"/>
            <a:ext cx="9144000" cy="1905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r>
              <a:rPr lang="es-ES" dirty="0"/>
              <a:t>Títulos</a:t>
            </a:r>
            <a:endParaRPr lang="es-PE" dirty="0"/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2A5C5461-7945-A1EC-B771-683D8FE508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375" y="460375"/>
            <a:ext cx="460375" cy="46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398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_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magen que contiene Tabla&#10;&#10;El contenido generado por IA puede ser incorrecto.">
            <a:extLst>
              <a:ext uri="{FF2B5EF4-FFF2-40B4-BE49-F238E27FC236}">
                <a16:creationId xmlns:a16="http://schemas.microsoft.com/office/drawing/2014/main" id="{C0380DE6-3F3C-5A2D-60B1-EA93F1976B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3751A84-9BB3-7C26-A4CA-CF46567D57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38400"/>
            <a:ext cx="9144000" cy="1905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7200" b="1">
                <a:solidFill>
                  <a:srgbClr val="00C23E"/>
                </a:solidFill>
              </a:defRPr>
            </a:lvl1pPr>
          </a:lstStyle>
          <a:p>
            <a:r>
              <a:rPr lang="es-ES" dirty="0"/>
              <a:t>Títulos</a:t>
            </a:r>
            <a:endParaRPr lang="es-PE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95F206CA-D4A1-57BE-AC7D-D5E02CC771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375" y="460375"/>
            <a:ext cx="460375" cy="460375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121F31A7-58F1-4F00-1242-1F641C96BB6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7785" y="5425304"/>
            <a:ext cx="2805215" cy="59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812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n subtítulo_ver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465C7378-ED67-A4EC-7B8B-72FB2156FE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3751A84-9BB3-7C26-A4CA-CF46567D57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5000" y="1993900"/>
            <a:ext cx="5207000" cy="16383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600" b="1" i="0"/>
            </a:lvl1pPr>
          </a:lstStyle>
          <a:p>
            <a:r>
              <a:rPr lang="es-ES" dirty="0"/>
              <a:t>Títulos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5F9BC1-AF24-35BB-F77B-BE98502ED99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5000" y="4108450"/>
            <a:ext cx="5207000" cy="1193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Subtítulos</a:t>
            </a:r>
            <a:endParaRPr lang="es-PE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529276A0-D7A0-456B-5545-1EEFF74EEA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375" y="460375"/>
            <a:ext cx="460375" cy="46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499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n subtítulo_azu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6367F20A-44F9-368E-CB82-5B3CC26A67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3751A84-9BB3-7C26-A4CA-CF46567D57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5000" y="1993900"/>
            <a:ext cx="5207000" cy="16383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600" b="1" i="0"/>
            </a:lvl1pPr>
          </a:lstStyle>
          <a:p>
            <a:r>
              <a:rPr lang="es-ES" dirty="0"/>
              <a:t>Títulos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5F9BC1-AF24-35BB-F77B-BE98502ED99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5000" y="4108450"/>
            <a:ext cx="5207000" cy="1193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Subtítulos</a:t>
            </a:r>
            <a:endParaRPr lang="es-PE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529276A0-D7A0-456B-5545-1EEFF74EEA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375" y="460375"/>
            <a:ext cx="460375" cy="46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589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n subtítulo_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5DEAF39D-D19C-7FEE-5280-545181ECAE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3751A84-9BB3-7C26-A4CA-CF46567D57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7700" y="1980060"/>
            <a:ext cx="5207000" cy="16383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600" b="1" i="0">
                <a:solidFill>
                  <a:srgbClr val="00C23E"/>
                </a:solidFill>
              </a:defRPr>
            </a:lvl1pPr>
          </a:lstStyle>
          <a:p>
            <a:r>
              <a:rPr lang="es-ES" dirty="0"/>
              <a:t>Títulos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5F9BC1-AF24-35BB-F77B-BE98502ED99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7700" y="3973961"/>
            <a:ext cx="5207000" cy="1193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rgbClr val="00C23E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Subtítulos</a:t>
            </a:r>
            <a:endParaRPr lang="es-PE"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35E5C6AF-BC20-99CE-6C5E-731421A720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375" y="460375"/>
            <a:ext cx="460375" cy="46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106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n subtítulo 2_ver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6F07A206-CEDC-9FD9-DDA2-C4D5914DB7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1222A50-041A-8DF5-85D7-AE6C81C3CD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30475" y="2489200"/>
            <a:ext cx="7131050" cy="825500"/>
          </a:xfrm>
          <a:prstGeom prst="rect">
            <a:avLst/>
          </a:prstGeom>
        </p:spPr>
        <p:txBody>
          <a:bodyPr/>
          <a:lstStyle>
            <a:lvl1pPr algn="ctr">
              <a:buNone/>
              <a:defRPr sz="7200" b="1"/>
            </a:lvl1pPr>
          </a:lstStyle>
          <a:p>
            <a:pPr lvl="0"/>
            <a:r>
              <a:rPr lang="es-PE" dirty="0"/>
              <a:t>Títulos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42535CB-EA83-F315-DA47-81F115FDC4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500" y="3606800"/>
            <a:ext cx="6223000" cy="914400"/>
          </a:xfrm>
          <a:prstGeom prst="rect">
            <a:avLst/>
          </a:prstGeom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s-PE" dirty="0"/>
              <a:t>Subtítulos</a:t>
            </a:r>
          </a:p>
        </p:txBody>
      </p:sp>
    </p:spTree>
    <p:extLst>
      <p:ext uri="{BB962C8B-B14F-4D97-AF65-F5344CB8AC3E}">
        <p14:creationId xmlns:p14="http://schemas.microsoft.com/office/powerpoint/2010/main" val="149338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n subtítulo 2_azu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98ADECA5-0FC6-A283-FE32-CB0E8043D1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4">
            <a:extLst>
              <a:ext uri="{FF2B5EF4-FFF2-40B4-BE49-F238E27FC236}">
                <a16:creationId xmlns:a16="http://schemas.microsoft.com/office/drawing/2014/main" id="{6AD6537A-01E7-A22F-0097-A6678C3140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30475" y="2489200"/>
            <a:ext cx="7131050" cy="825500"/>
          </a:xfrm>
          <a:prstGeom prst="rect">
            <a:avLst/>
          </a:prstGeom>
        </p:spPr>
        <p:txBody>
          <a:bodyPr/>
          <a:lstStyle>
            <a:lvl1pPr algn="ctr">
              <a:buNone/>
              <a:defRPr sz="7200" b="1"/>
            </a:lvl1pPr>
          </a:lstStyle>
          <a:p>
            <a:pPr lvl="0"/>
            <a:r>
              <a:rPr lang="es-PE" dirty="0"/>
              <a:t>Títulos</a:t>
            </a:r>
          </a:p>
        </p:txBody>
      </p:sp>
      <p:sp>
        <p:nvSpPr>
          <p:cNvPr id="10" name="Marcador de texto 6">
            <a:extLst>
              <a:ext uri="{FF2B5EF4-FFF2-40B4-BE49-F238E27FC236}">
                <a16:creationId xmlns:a16="http://schemas.microsoft.com/office/drawing/2014/main" id="{DE1D3E43-A34B-E0E1-6407-E91B00B1FC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500" y="3606800"/>
            <a:ext cx="6223000" cy="914400"/>
          </a:xfrm>
          <a:prstGeom prst="rect">
            <a:avLst/>
          </a:prstGeom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s-PE" dirty="0"/>
              <a:t>Subtítulos</a:t>
            </a:r>
          </a:p>
        </p:txBody>
      </p:sp>
    </p:spTree>
    <p:extLst>
      <p:ext uri="{BB962C8B-B14F-4D97-AF65-F5344CB8AC3E}">
        <p14:creationId xmlns:p14="http://schemas.microsoft.com/office/powerpoint/2010/main" val="271075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B75A6C34-2997-8A20-8E2D-A9714453C0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1400" y="723900"/>
            <a:ext cx="5753100" cy="520700"/>
          </a:xfrm>
          <a:prstGeom prst="rect">
            <a:avLst/>
          </a:prstGeom>
        </p:spPr>
        <p:txBody>
          <a:bodyPr/>
          <a:lstStyle>
            <a:lvl1pPr>
              <a:buNone/>
              <a:defRPr sz="36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ES"/>
              <a:t>Título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30AEDC-8595-5063-26AC-C3E285D8AE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1400" y="1600200"/>
            <a:ext cx="5753100" cy="520700"/>
          </a:xfrm>
          <a:prstGeom prst="rect">
            <a:avLst/>
          </a:prstGeom>
        </p:spPr>
        <p:txBody>
          <a:bodyPr/>
          <a:lstStyle>
            <a:lvl1pPr>
              <a:buNone/>
              <a:defRPr sz="2400" b="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ES"/>
              <a:t>Contenido de la información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13261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8560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verde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1C471B4B-9212-4C2A-B120-F37CC4A922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A6C842-A538-0647-CBEB-AEE31864A1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58900" y="1219200"/>
            <a:ext cx="3911600" cy="685800"/>
          </a:xfrm>
          <a:prstGeom prst="rect">
            <a:avLst/>
          </a:prstGeom>
        </p:spPr>
        <p:txBody>
          <a:bodyPr/>
          <a:lstStyle>
            <a:lvl1pPr>
              <a:buNone/>
              <a:defRPr sz="48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Título</a:t>
            </a:r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7766A89A-5050-7F92-15F7-4721D843DD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8900" y="2311400"/>
            <a:ext cx="7683500" cy="685800"/>
          </a:xfrm>
          <a:prstGeom prst="rect">
            <a:avLst/>
          </a:prstGeom>
        </p:spPr>
        <p:txBody>
          <a:bodyPr/>
          <a:lstStyle>
            <a:lvl1pPr>
              <a:buNone/>
              <a:defRPr sz="3200" b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831441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azul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Patrón de fondo&#10;&#10;El contenido generado por IA puede ser incorrecto.">
            <a:extLst>
              <a:ext uri="{FF2B5EF4-FFF2-40B4-BE49-F238E27FC236}">
                <a16:creationId xmlns:a16="http://schemas.microsoft.com/office/drawing/2014/main" id="{28E9A16A-BE74-02C6-8992-40052B403E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A6C842-A538-0647-CBEB-AEE31864A1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58900" y="1219200"/>
            <a:ext cx="3911600" cy="685800"/>
          </a:xfrm>
          <a:prstGeom prst="rect">
            <a:avLst/>
          </a:prstGeom>
        </p:spPr>
        <p:txBody>
          <a:bodyPr/>
          <a:lstStyle>
            <a:lvl1pPr>
              <a:buNone/>
              <a:defRPr sz="48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Título</a:t>
            </a:r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7766A89A-5050-7F92-15F7-4721D843DD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8900" y="2311400"/>
            <a:ext cx="7683500" cy="685800"/>
          </a:xfrm>
          <a:prstGeom prst="rect">
            <a:avLst/>
          </a:prstGeom>
        </p:spPr>
        <p:txBody>
          <a:bodyPr/>
          <a:lstStyle>
            <a:lvl1pPr>
              <a:buNone/>
              <a:defRPr sz="3200" b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432463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blanco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96A23D89-DB4F-FB5C-9152-A89A0EF71A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A6C842-A538-0647-CBEB-AEE31864A1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58900" y="1219200"/>
            <a:ext cx="3911600" cy="685800"/>
          </a:xfrm>
          <a:prstGeom prst="rect">
            <a:avLst/>
          </a:prstGeom>
        </p:spPr>
        <p:txBody>
          <a:bodyPr/>
          <a:lstStyle>
            <a:lvl1pPr>
              <a:buNone/>
              <a:defRPr sz="4800" b="1">
                <a:solidFill>
                  <a:srgbClr val="00C23E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Título</a:t>
            </a:r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7766A89A-5050-7F92-15F7-4721D843DD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8900" y="2311400"/>
            <a:ext cx="7683500" cy="685800"/>
          </a:xfrm>
          <a:prstGeom prst="rect">
            <a:avLst/>
          </a:prstGeom>
        </p:spPr>
        <p:txBody>
          <a:bodyPr/>
          <a:lstStyle>
            <a:lvl1pPr>
              <a:buNone/>
              <a:defRPr sz="3200" b="0">
                <a:solidFill>
                  <a:srgbClr val="00C23E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26296236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v3_ver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48079404-CAD4-E80F-7511-BD195F1DCA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576E4C97-FC5B-87F4-A634-85B29FBD93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58900" y="1219200"/>
            <a:ext cx="3911600" cy="685800"/>
          </a:xfrm>
          <a:prstGeom prst="rect">
            <a:avLst/>
          </a:prstGeom>
        </p:spPr>
        <p:txBody>
          <a:bodyPr/>
          <a:lstStyle>
            <a:lvl1pPr>
              <a:buNone/>
              <a:defRPr sz="48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Título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16D9B55-F7AB-A32B-42CB-F55ABDAAF6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8900" y="2311400"/>
            <a:ext cx="7683500" cy="685800"/>
          </a:xfrm>
          <a:prstGeom prst="rect">
            <a:avLst/>
          </a:prstGeom>
        </p:spPr>
        <p:txBody>
          <a:bodyPr/>
          <a:lstStyle>
            <a:lvl1pPr>
              <a:buNone/>
              <a:defRPr sz="3200" b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34254484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v3_azu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agen que contiene Patrón de fondo&#10;&#10;El contenido generado por IA puede ser incorrecto.">
            <a:extLst>
              <a:ext uri="{FF2B5EF4-FFF2-40B4-BE49-F238E27FC236}">
                <a16:creationId xmlns:a16="http://schemas.microsoft.com/office/drawing/2014/main" id="{CD81BEAB-23AF-F8BE-1038-713447F3CC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770A55F9-0862-787F-9C65-C060F650DD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58900" y="1219200"/>
            <a:ext cx="3911600" cy="685800"/>
          </a:xfrm>
          <a:prstGeom prst="rect">
            <a:avLst/>
          </a:prstGeom>
        </p:spPr>
        <p:txBody>
          <a:bodyPr/>
          <a:lstStyle>
            <a:lvl1pPr>
              <a:buNone/>
              <a:defRPr sz="48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Título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D546F1B-E8D7-8334-3C04-347B05FCF0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8900" y="2311400"/>
            <a:ext cx="7683500" cy="685800"/>
          </a:xfrm>
          <a:prstGeom prst="rect">
            <a:avLst/>
          </a:prstGeom>
        </p:spPr>
        <p:txBody>
          <a:bodyPr/>
          <a:lstStyle>
            <a:lvl1pPr>
              <a:buNone/>
              <a:defRPr sz="3200" b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3974464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asillas texto_ver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52F2AF1C-0E10-1DD2-33EB-E908C0BAA1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ángulo: esquinas diagonales redondeadas 8">
            <a:extLst>
              <a:ext uri="{FF2B5EF4-FFF2-40B4-BE49-F238E27FC236}">
                <a16:creationId xmlns:a16="http://schemas.microsoft.com/office/drawing/2014/main" id="{AAB1C45F-362B-93DC-F8EE-00B444541AF0}"/>
              </a:ext>
            </a:extLst>
          </p:cNvPr>
          <p:cNvSpPr/>
          <p:nvPr userDrawn="1"/>
        </p:nvSpPr>
        <p:spPr>
          <a:xfrm>
            <a:off x="5925705" y="1041400"/>
            <a:ext cx="4693460" cy="47752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08F28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7" name="Rectángulo: esquinas diagonales redondeadas 6">
            <a:extLst>
              <a:ext uri="{FF2B5EF4-FFF2-40B4-BE49-F238E27FC236}">
                <a16:creationId xmlns:a16="http://schemas.microsoft.com/office/drawing/2014/main" id="{F9FA4752-FEC5-864F-7840-26762E7BC27B}"/>
              </a:ext>
            </a:extLst>
          </p:cNvPr>
          <p:cNvSpPr/>
          <p:nvPr userDrawn="1"/>
        </p:nvSpPr>
        <p:spPr>
          <a:xfrm>
            <a:off x="1031470" y="1041400"/>
            <a:ext cx="4693460" cy="47752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0C23E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B27101-1DD8-6592-8B30-2A250A33EBB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769211"/>
            <a:ext cx="3708400" cy="910490"/>
          </a:xfrm>
          <a:prstGeom prst="rect">
            <a:avLst/>
          </a:prstGeom>
        </p:spPr>
        <p:txBody>
          <a:bodyPr anchor="ctr"/>
          <a:lstStyle>
            <a:lvl1pPr algn="ctr">
              <a:defRPr sz="4800" b="1"/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D874A2-7EC9-E66C-80F3-DE0EFDAD61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124200"/>
            <a:ext cx="3708400" cy="19558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Contenido de la información</a:t>
            </a:r>
            <a:endParaRPr lang="es-PE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44F90E58-9308-2ED7-4B1A-E169D27EB7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3179" y="1671370"/>
            <a:ext cx="3338512" cy="1046163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lang="es-PE" sz="4800" b="1" kern="1200" dirty="0">
                <a:solidFill>
                  <a:schemeClr val="bg1"/>
                </a:solidFill>
                <a:latin typeface="Poppins" panose="00000500000000000000" pitchFamily="2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Título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8A2EB316-D120-57CD-187D-6ED130D365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03179" y="3087687"/>
            <a:ext cx="3338512" cy="2028825"/>
          </a:xfrm>
          <a:prstGeom prst="rect">
            <a:avLst/>
          </a:prstGeom>
        </p:spPr>
        <p:txBody>
          <a:bodyPr/>
          <a:lstStyle>
            <a:lvl1pPr>
              <a:buNone/>
              <a:defRPr lang="es-PE" sz="2400" kern="1200" dirty="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1044663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asillas texto_azu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Patrón de fondo&#10;&#10;El contenido generado por IA puede ser incorrecto.">
            <a:extLst>
              <a:ext uri="{FF2B5EF4-FFF2-40B4-BE49-F238E27FC236}">
                <a16:creationId xmlns:a16="http://schemas.microsoft.com/office/drawing/2014/main" id="{4C6DF284-0036-E047-3ADD-99034B8ED3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ángulo: esquinas diagonales redondeadas 8">
            <a:extLst>
              <a:ext uri="{FF2B5EF4-FFF2-40B4-BE49-F238E27FC236}">
                <a16:creationId xmlns:a16="http://schemas.microsoft.com/office/drawing/2014/main" id="{AAB1C45F-362B-93DC-F8EE-00B444541AF0}"/>
              </a:ext>
            </a:extLst>
          </p:cNvPr>
          <p:cNvSpPr/>
          <p:nvPr userDrawn="1"/>
        </p:nvSpPr>
        <p:spPr>
          <a:xfrm>
            <a:off x="5925705" y="1041400"/>
            <a:ext cx="4693460" cy="47752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03AAC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7" name="Rectángulo: esquinas diagonales redondeadas 6">
            <a:extLst>
              <a:ext uri="{FF2B5EF4-FFF2-40B4-BE49-F238E27FC236}">
                <a16:creationId xmlns:a16="http://schemas.microsoft.com/office/drawing/2014/main" id="{F9FA4752-FEC5-864F-7840-26762E7BC27B}"/>
              </a:ext>
            </a:extLst>
          </p:cNvPr>
          <p:cNvSpPr/>
          <p:nvPr userDrawn="1"/>
        </p:nvSpPr>
        <p:spPr>
          <a:xfrm>
            <a:off x="1031470" y="1041400"/>
            <a:ext cx="4693460" cy="47752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01C52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B27101-1DD8-6592-8B30-2A250A33EBB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769211"/>
            <a:ext cx="3708400" cy="910490"/>
          </a:xfrm>
          <a:prstGeom prst="rect">
            <a:avLst/>
          </a:prstGeom>
        </p:spPr>
        <p:txBody>
          <a:bodyPr anchor="ctr"/>
          <a:lstStyle>
            <a:lvl1pPr algn="ctr">
              <a:defRPr sz="4800" b="1"/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D874A2-7EC9-E66C-80F3-DE0EFDAD61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124200"/>
            <a:ext cx="3708400" cy="19558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lang="es-PE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>
              <a:buNone/>
            </a:pPr>
            <a:r>
              <a:rPr lang="es-ES" dirty="0"/>
              <a:t>Contenido de la información</a:t>
            </a:r>
            <a:endParaRPr lang="es-PE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FE92A3A-E966-D055-88E0-B2CCB17E8E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8235" y="1768475"/>
            <a:ext cx="3708400" cy="91122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lang="es-PE" sz="4800" b="1" kern="1200" dirty="0">
                <a:solidFill>
                  <a:schemeClr val="bg1"/>
                </a:solidFill>
                <a:latin typeface="Poppins" panose="00000500000000000000" pitchFamily="2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Títulos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AED3F585-0F1E-C717-14DA-D207CA43C3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8235" y="3124200"/>
            <a:ext cx="3708400" cy="1955800"/>
          </a:xfrm>
          <a:prstGeom prst="rect">
            <a:avLst/>
          </a:prstGeom>
        </p:spPr>
        <p:txBody>
          <a:bodyPr/>
          <a:lstStyle>
            <a:lvl1pPr>
              <a:buNone/>
              <a:defRPr lang="es-PE" sz="2400" kern="1200" dirty="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32269264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asillas texto_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837C94D5-22F3-23F5-96D4-301F990F01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ángulo: esquinas diagonales redondeadas 8">
            <a:extLst>
              <a:ext uri="{FF2B5EF4-FFF2-40B4-BE49-F238E27FC236}">
                <a16:creationId xmlns:a16="http://schemas.microsoft.com/office/drawing/2014/main" id="{AAB1C45F-362B-93DC-F8EE-00B444541AF0}"/>
              </a:ext>
            </a:extLst>
          </p:cNvPr>
          <p:cNvSpPr/>
          <p:nvPr userDrawn="1"/>
        </p:nvSpPr>
        <p:spPr>
          <a:xfrm>
            <a:off x="5925705" y="1041400"/>
            <a:ext cx="4693460" cy="47752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08F28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7" name="Rectángulo: esquinas diagonales redondeadas 6">
            <a:extLst>
              <a:ext uri="{FF2B5EF4-FFF2-40B4-BE49-F238E27FC236}">
                <a16:creationId xmlns:a16="http://schemas.microsoft.com/office/drawing/2014/main" id="{F9FA4752-FEC5-864F-7840-26762E7BC27B}"/>
              </a:ext>
            </a:extLst>
          </p:cNvPr>
          <p:cNvSpPr/>
          <p:nvPr userDrawn="1"/>
        </p:nvSpPr>
        <p:spPr>
          <a:xfrm>
            <a:off x="1031470" y="1041400"/>
            <a:ext cx="4693460" cy="47752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0C23E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B27101-1DD8-6592-8B30-2A250A33EBB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769211"/>
            <a:ext cx="3708400" cy="910490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rgbClr val="004914"/>
                </a:solidFill>
              </a:defRPr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D874A2-7EC9-E66C-80F3-DE0EFDAD61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124200"/>
            <a:ext cx="3708400" cy="19558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lang="es-PE" sz="2400" kern="1200" dirty="0">
                <a:solidFill>
                  <a:srgbClr val="004914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Contenido de la información</a:t>
            </a:r>
            <a:endParaRPr lang="es-PE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1D8B066F-5C62-9775-BBE6-FED7196034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8235" y="3124200"/>
            <a:ext cx="3708400" cy="1955800"/>
          </a:xfrm>
          <a:prstGeom prst="rect">
            <a:avLst/>
          </a:prstGeom>
        </p:spPr>
        <p:txBody>
          <a:bodyPr/>
          <a:lstStyle>
            <a:lvl1pPr>
              <a:buNone/>
              <a:defRPr lang="es-PE" sz="2400" kern="1200" dirty="0">
                <a:solidFill>
                  <a:srgbClr val="004914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92596042-C580-A80D-2FE8-06BFF1E470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8235" y="1768475"/>
            <a:ext cx="3708400" cy="91122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lang="es-PE" sz="4800" b="1" kern="1200" dirty="0">
                <a:solidFill>
                  <a:srgbClr val="004914"/>
                </a:solidFill>
                <a:latin typeface="Poppins" panose="00000500000000000000" pitchFamily="2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1957838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Imagen que contiene Aplicación&#10;&#10;El contenido generado por IA puede ser incorrecto.">
            <a:extLst>
              <a:ext uri="{FF2B5EF4-FFF2-40B4-BE49-F238E27FC236}">
                <a16:creationId xmlns:a16="http://schemas.microsoft.com/office/drawing/2014/main" id="{3BD85491-939B-5CAF-8F88-8309168FFE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85BE3FA-7C18-8DB6-FB92-5F68507497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1400" y="723900"/>
            <a:ext cx="5753100" cy="520700"/>
          </a:xfrm>
          <a:prstGeom prst="rect">
            <a:avLst/>
          </a:prstGeom>
        </p:spPr>
        <p:txBody>
          <a:bodyPr/>
          <a:lstStyle>
            <a:lvl1pPr>
              <a:buNone/>
              <a:defRPr sz="36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ES" dirty="0"/>
              <a:t>Título</a:t>
            </a:r>
            <a:endParaRPr lang="es-PE" dirty="0"/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D7F8CC9D-2CFE-C0D1-0171-4E5F9099ED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1400" y="1600200"/>
            <a:ext cx="5753100" cy="520700"/>
          </a:xfrm>
          <a:prstGeom prst="rect">
            <a:avLst/>
          </a:prstGeom>
        </p:spPr>
        <p:txBody>
          <a:bodyPr/>
          <a:lstStyle>
            <a:lvl1pPr>
              <a:buNone/>
              <a:defRPr sz="2400" b="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ES" dirty="0"/>
              <a:t>Contenido de la información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3688132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9D8771F9-59A7-1E19-F989-3C62F5FCBE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B75A6C34-2997-8A20-8E2D-A9714453C0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1400" y="723900"/>
            <a:ext cx="5753100" cy="520700"/>
          </a:xfrm>
          <a:prstGeom prst="rect">
            <a:avLst/>
          </a:prstGeom>
        </p:spPr>
        <p:txBody>
          <a:bodyPr/>
          <a:lstStyle>
            <a:lvl1pPr>
              <a:buNone/>
              <a:defRPr sz="36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ES" dirty="0"/>
              <a:t>Título</a:t>
            </a:r>
            <a:endParaRPr lang="es-PE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30AEDC-8595-5063-26AC-C3E285D8AE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1400" y="1600200"/>
            <a:ext cx="5753100" cy="520700"/>
          </a:xfrm>
          <a:prstGeom prst="rect">
            <a:avLst/>
          </a:prstGeom>
        </p:spPr>
        <p:txBody>
          <a:bodyPr/>
          <a:lstStyle>
            <a:lvl1pPr>
              <a:buNone/>
              <a:defRPr sz="2400" b="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ES" dirty="0"/>
              <a:t>Contenido de la información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1955658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F6AACE08-10CF-42A8-06E1-8A6F302A1E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8F8ECFE1-54F0-D169-FFDB-13EE7B259B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1400" y="723900"/>
            <a:ext cx="5753100" cy="520700"/>
          </a:xfrm>
          <a:prstGeom prst="rect">
            <a:avLst/>
          </a:prstGeom>
        </p:spPr>
        <p:txBody>
          <a:bodyPr/>
          <a:lstStyle>
            <a:lvl1pPr>
              <a:buNone/>
              <a:defRPr sz="36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ES" dirty="0"/>
              <a:t>Título</a:t>
            </a:r>
            <a:endParaRPr lang="es-PE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70E679-EE5A-AAF1-A842-CB326C342D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1400" y="1600200"/>
            <a:ext cx="5753100" cy="520700"/>
          </a:xfrm>
          <a:prstGeom prst="rect">
            <a:avLst/>
          </a:prstGeom>
        </p:spPr>
        <p:txBody>
          <a:bodyPr/>
          <a:lstStyle>
            <a:lvl1pPr>
              <a:buNone/>
              <a:defRPr sz="2400" b="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ES" dirty="0"/>
              <a:t>Contenido de la información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1790191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 Diseñ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427B753B-7FFF-1B49-9675-77289C58D0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12FA7CED-FE6D-2B90-1F8B-B8A3BA828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26374" y="2032000"/>
            <a:ext cx="5753100" cy="520700"/>
          </a:xfrm>
          <a:prstGeom prst="rect">
            <a:avLst/>
          </a:prstGeom>
        </p:spPr>
        <p:txBody>
          <a:bodyPr/>
          <a:lstStyle>
            <a:lvl1pPr>
              <a:buNone/>
              <a:defRPr sz="36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ES" dirty="0"/>
              <a:t>Título</a:t>
            </a:r>
            <a:endParaRPr lang="es-PE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4A15155-6263-56B4-6CA2-05390EB1EB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26374" y="2908300"/>
            <a:ext cx="5753100" cy="520700"/>
          </a:xfrm>
          <a:prstGeom prst="rect">
            <a:avLst/>
          </a:prstGeom>
        </p:spPr>
        <p:txBody>
          <a:bodyPr/>
          <a:lstStyle>
            <a:lvl1pPr>
              <a:buNone/>
              <a:defRPr sz="2400" b="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ES" dirty="0"/>
              <a:t>Contenido de la información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834622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75ACC8C2-4B7D-09F7-6117-F16BC894F2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661FE457-D930-EEBF-8E59-1B4E68ADB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36379" y="2017987"/>
            <a:ext cx="5753100" cy="520700"/>
          </a:xfrm>
          <a:prstGeom prst="rect">
            <a:avLst/>
          </a:prstGeom>
        </p:spPr>
        <p:txBody>
          <a:bodyPr/>
          <a:lstStyle>
            <a:lvl1pPr>
              <a:buNone/>
              <a:defRPr sz="36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ES" dirty="0"/>
              <a:t>Título</a:t>
            </a:r>
            <a:endParaRPr lang="es-PE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C9E122-D2A8-2FC4-5B1D-3479DDCFB3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36379" y="2908300"/>
            <a:ext cx="5753100" cy="520700"/>
          </a:xfrm>
          <a:prstGeom prst="rect">
            <a:avLst/>
          </a:prstGeom>
        </p:spPr>
        <p:txBody>
          <a:bodyPr/>
          <a:lstStyle>
            <a:lvl1pPr algn="l">
              <a:buNone/>
              <a:defRPr sz="2400" b="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ES" dirty="0"/>
              <a:t>Contenido de la información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9717863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Forma&#10;&#10;El contenido generado por IA puede ser incorrecto.">
            <a:extLst>
              <a:ext uri="{FF2B5EF4-FFF2-40B4-BE49-F238E27FC236}">
                <a16:creationId xmlns:a16="http://schemas.microsoft.com/office/drawing/2014/main" id="{9265BD53-0F50-45AF-DA7C-21D7F74C9C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C1C496-FEB7-4BD7-1993-3BC6AA3D54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4638" y="461743"/>
            <a:ext cx="6475412" cy="652462"/>
          </a:xfrm>
          <a:prstGeom prst="rect">
            <a:avLst/>
          </a:prstGeom>
        </p:spPr>
        <p:txBody>
          <a:bodyPr anchor="ctr"/>
          <a:lstStyle>
            <a:lvl1pPr>
              <a:buNone/>
              <a:defRPr sz="36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ES" dirty="0">
                <a:latin typeface="Poppins" panose="00000500000000000000" pitchFamily="2" charset="0"/>
                <a:cs typeface="Poppins" panose="00000500000000000000" pitchFamily="2" charset="0"/>
              </a:rPr>
              <a:t>Título</a:t>
            </a:r>
            <a:endParaRPr lang="es-PE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5690258B-6967-BA6B-6AA4-33523CB27E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44638" y="2028114"/>
            <a:ext cx="8934450" cy="2490787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ES" dirty="0"/>
              <a:t>Contenido de la información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4647588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con texto_ver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B4BDF195-4702-A3CE-40F0-7C283ACC08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 descr="Imagen que contiene juguete, pequeño, tabla, calle&#10;&#10;El contenido generado por IA puede ser incorrecto.">
            <a:extLst>
              <a:ext uri="{FF2B5EF4-FFF2-40B4-BE49-F238E27FC236}">
                <a16:creationId xmlns:a16="http://schemas.microsoft.com/office/drawing/2014/main" id="{AAC1E26B-4CD3-5CB0-6AB6-DE37E836AE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470" y="1041400"/>
            <a:ext cx="4693460" cy="4775200"/>
          </a:xfrm>
          <a:custGeom>
            <a:avLst/>
            <a:gdLst>
              <a:gd name="csX0" fmla="*/ 782259 w 4693460"/>
              <a:gd name="csY0" fmla="*/ 0 h 4775200"/>
              <a:gd name="csX1" fmla="*/ 4693460 w 4693460"/>
              <a:gd name="csY1" fmla="*/ 0 h 4775200"/>
              <a:gd name="csX2" fmla="*/ 4693460 w 4693460"/>
              <a:gd name="csY2" fmla="*/ 3992941 h 4775200"/>
              <a:gd name="csX3" fmla="*/ 3911201 w 4693460"/>
              <a:gd name="csY3" fmla="*/ 4775200 h 4775200"/>
              <a:gd name="csX4" fmla="*/ 0 w 4693460"/>
              <a:gd name="csY4" fmla="*/ 4775200 h 4775200"/>
              <a:gd name="csX5" fmla="*/ 0 w 4693460"/>
              <a:gd name="csY5" fmla="*/ 782259 h 4775200"/>
              <a:gd name="csX6" fmla="*/ 782259 w 4693460"/>
              <a:gd name="csY6" fmla="*/ 0 h 4775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693460" h="4775200">
                <a:moveTo>
                  <a:pt x="782259" y="0"/>
                </a:moveTo>
                <a:lnTo>
                  <a:pt x="4693460" y="0"/>
                </a:lnTo>
                <a:lnTo>
                  <a:pt x="4693460" y="3992941"/>
                </a:lnTo>
                <a:cubicBezTo>
                  <a:pt x="4693460" y="4424971"/>
                  <a:pt x="4343231" y="4775200"/>
                  <a:pt x="3911201" y="4775200"/>
                </a:cubicBezTo>
                <a:lnTo>
                  <a:pt x="0" y="4775200"/>
                </a:lnTo>
                <a:lnTo>
                  <a:pt x="0" y="782259"/>
                </a:lnTo>
                <a:cubicBezTo>
                  <a:pt x="0" y="350229"/>
                  <a:pt x="350229" y="0"/>
                  <a:pt x="782259" y="0"/>
                </a:cubicBezTo>
                <a:close/>
              </a:path>
            </a:pathLst>
          </a:custGeom>
        </p:spPr>
      </p:pic>
      <p:sp>
        <p:nvSpPr>
          <p:cNvPr id="9" name="Rectángulo: esquinas diagonales redondeadas 8">
            <a:extLst>
              <a:ext uri="{FF2B5EF4-FFF2-40B4-BE49-F238E27FC236}">
                <a16:creationId xmlns:a16="http://schemas.microsoft.com/office/drawing/2014/main" id="{AAB1C45F-362B-93DC-F8EE-00B444541AF0}"/>
              </a:ext>
            </a:extLst>
          </p:cNvPr>
          <p:cNvSpPr/>
          <p:nvPr userDrawn="1"/>
        </p:nvSpPr>
        <p:spPr>
          <a:xfrm>
            <a:off x="5925705" y="1041400"/>
            <a:ext cx="4693460" cy="47752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0C23E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8" name="Marcador de posición de imagen 2">
            <a:extLst>
              <a:ext uri="{FF2B5EF4-FFF2-40B4-BE49-F238E27FC236}">
                <a16:creationId xmlns:a16="http://schemas.microsoft.com/office/drawing/2014/main" id="{D493BA32-6F98-CE11-37D7-A0D8B1826B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1470" y="1041400"/>
            <a:ext cx="4693460" cy="4775200"/>
          </a:xfrm>
          <a:prstGeom prst="round2DiagRect">
            <a:avLst/>
          </a:prstGeom>
        </p:spPr>
        <p:txBody>
          <a:bodyPr/>
          <a:lstStyle/>
          <a:p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ABFDC0-B288-5FDC-BA1F-6C4B535E29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34150" y="1705671"/>
            <a:ext cx="3494088" cy="626563"/>
          </a:xfrm>
          <a:prstGeom prst="rect">
            <a:avLst/>
          </a:prstGeom>
        </p:spPr>
        <p:txBody>
          <a:bodyPr/>
          <a:lstStyle>
            <a:lvl1pPr algn="ctr">
              <a:buNone/>
              <a:defRPr sz="4800" b="1"/>
            </a:lvl1pPr>
          </a:lstStyle>
          <a:p>
            <a:pPr lvl="0"/>
            <a:r>
              <a:rPr lang="es-PE" dirty="0"/>
              <a:t>Título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DADD81C-1DF6-96D4-3E22-2D0650B2B4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34150" y="2619375"/>
            <a:ext cx="3494088" cy="2384425"/>
          </a:xfrm>
          <a:prstGeom prst="rect">
            <a:avLst/>
          </a:prstGeom>
        </p:spPr>
        <p:txBody>
          <a:bodyPr/>
          <a:lstStyle>
            <a:lvl1pPr>
              <a:buNone/>
              <a:defRPr sz="2400"/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25915958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con texto_azu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Patrón de fondo&#10;&#10;El contenido generado por IA puede ser incorrecto.">
            <a:extLst>
              <a:ext uri="{FF2B5EF4-FFF2-40B4-BE49-F238E27FC236}">
                <a16:creationId xmlns:a16="http://schemas.microsoft.com/office/drawing/2014/main" id="{4BE82050-2170-8356-032B-544224FE36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 descr="Imagen de la pantalla de un video juego de un carro&#10;&#10;El contenido generado por IA puede ser incorrecto.">
            <a:extLst>
              <a:ext uri="{FF2B5EF4-FFF2-40B4-BE49-F238E27FC236}">
                <a16:creationId xmlns:a16="http://schemas.microsoft.com/office/drawing/2014/main" id="{8146A80A-0FEC-C37D-380E-F7964A354D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925705" y="1041400"/>
            <a:ext cx="4693460" cy="4775200"/>
          </a:xfrm>
          <a:custGeom>
            <a:avLst/>
            <a:gdLst>
              <a:gd name="csX0" fmla="*/ 782259 w 4693460"/>
              <a:gd name="csY0" fmla="*/ 0 h 4775200"/>
              <a:gd name="csX1" fmla="*/ 4693460 w 4693460"/>
              <a:gd name="csY1" fmla="*/ 0 h 4775200"/>
              <a:gd name="csX2" fmla="*/ 4693460 w 4693460"/>
              <a:gd name="csY2" fmla="*/ 3992941 h 4775200"/>
              <a:gd name="csX3" fmla="*/ 3911201 w 4693460"/>
              <a:gd name="csY3" fmla="*/ 4775200 h 4775200"/>
              <a:gd name="csX4" fmla="*/ 0 w 4693460"/>
              <a:gd name="csY4" fmla="*/ 4775200 h 4775200"/>
              <a:gd name="csX5" fmla="*/ 0 w 4693460"/>
              <a:gd name="csY5" fmla="*/ 782259 h 4775200"/>
              <a:gd name="csX6" fmla="*/ 782259 w 4693460"/>
              <a:gd name="csY6" fmla="*/ 0 h 4775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693460" h="4775200">
                <a:moveTo>
                  <a:pt x="782259" y="0"/>
                </a:moveTo>
                <a:lnTo>
                  <a:pt x="4693460" y="0"/>
                </a:lnTo>
                <a:lnTo>
                  <a:pt x="4693460" y="3992941"/>
                </a:lnTo>
                <a:cubicBezTo>
                  <a:pt x="4693460" y="4424971"/>
                  <a:pt x="4343231" y="4775200"/>
                  <a:pt x="3911201" y="4775200"/>
                </a:cubicBezTo>
                <a:lnTo>
                  <a:pt x="0" y="4775200"/>
                </a:lnTo>
                <a:lnTo>
                  <a:pt x="0" y="782259"/>
                </a:lnTo>
                <a:cubicBezTo>
                  <a:pt x="0" y="350229"/>
                  <a:pt x="350229" y="0"/>
                  <a:pt x="782259" y="0"/>
                </a:cubicBezTo>
                <a:close/>
              </a:path>
            </a:pathLst>
          </a:custGeom>
        </p:spPr>
      </p:pic>
      <p:sp>
        <p:nvSpPr>
          <p:cNvPr id="7" name="Rectángulo: esquinas diagonales redondeadas 6">
            <a:extLst>
              <a:ext uri="{FF2B5EF4-FFF2-40B4-BE49-F238E27FC236}">
                <a16:creationId xmlns:a16="http://schemas.microsoft.com/office/drawing/2014/main" id="{F9FA4752-FEC5-864F-7840-26762E7BC27B}"/>
              </a:ext>
            </a:extLst>
          </p:cNvPr>
          <p:cNvSpPr/>
          <p:nvPr userDrawn="1"/>
        </p:nvSpPr>
        <p:spPr>
          <a:xfrm>
            <a:off x="1031470" y="1041400"/>
            <a:ext cx="4693460" cy="47752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01C5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B27101-1DD8-6592-8B30-2A250A33EBB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769211"/>
            <a:ext cx="3708400" cy="910490"/>
          </a:xfrm>
          <a:prstGeom prst="rect">
            <a:avLst/>
          </a:prstGeom>
        </p:spPr>
        <p:txBody>
          <a:bodyPr anchor="ctr"/>
          <a:lstStyle>
            <a:lvl1pPr algn="ctr">
              <a:defRPr sz="4800" b="1"/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D874A2-7EC9-E66C-80F3-DE0EFDAD61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124200"/>
            <a:ext cx="3708400" cy="19558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Contenido de la información</a:t>
            </a:r>
            <a:endParaRPr lang="es-PE" dirty="0"/>
          </a:p>
        </p:txBody>
      </p:sp>
      <p:sp>
        <p:nvSpPr>
          <p:cNvPr id="8" name="Marcador de posición de imagen 2">
            <a:extLst>
              <a:ext uri="{FF2B5EF4-FFF2-40B4-BE49-F238E27FC236}">
                <a16:creationId xmlns:a16="http://schemas.microsoft.com/office/drawing/2014/main" id="{2F8BDD2A-7E1A-606D-4438-617ED7C28C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25705" y="1033182"/>
            <a:ext cx="4693460" cy="4775200"/>
          </a:xfrm>
          <a:prstGeom prst="round2DiagRect">
            <a:avLst/>
          </a:prstGeom>
        </p:spPr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689163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 Foto con tex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C1001D2C-E9E5-3828-6C72-CB2B4EB5A8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146A80A-0FEC-C37D-380E-F7964A354D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1470" y="1041400"/>
            <a:ext cx="4693460" cy="4775200"/>
          </a:xfrm>
          <a:custGeom>
            <a:avLst/>
            <a:gdLst>
              <a:gd name="csX0" fmla="*/ 782259 w 4693460"/>
              <a:gd name="csY0" fmla="*/ 0 h 4775200"/>
              <a:gd name="csX1" fmla="*/ 4693460 w 4693460"/>
              <a:gd name="csY1" fmla="*/ 0 h 4775200"/>
              <a:gd name="csX2" fmla="*/ 4693460 w 4693460"/>
              <a:gd name="csY2" fmla="*/ 3992941 h 4775200"/>
              <a:gd name="csX3" fmla="*/ 3911201 w 4693460"/>
              <a:gd name="csY3" fmla="*/ 4775200 h 4775200"/>
              <a:gd name="csX4" fmla="*/ 0 w 4693460"/>
              <a:gd name="csY4" fmla="*/ 4775200 h 4775200"/>
              <a:gd name="csX5" fmla="*/ 0 w 4693460"/>
              <a:gd name="csY5" fmla="*/ 782259 h 4775200"/>
              <a:gd name="csX6" fmla="*/ 782259 w 4693460"/>
              <a:gd name="csY6" fmla="*/ 0 h 4775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693460" h="4775200">
                <a:moveTo>
                  <a:pt x="782259" y="0"/>
                </a:moveTo>
                <a:lnTo>
                  <a:pt x="4693460" y="0"/>
                </a:lnTo>
                <a:lnTo>
                  <a:pt x="4693460" y="3992941"/>
                </a:lnTo>
                <a:cubicBezTo>
                  <a:pt x="4693460" y="4424971"/>
                  <a:pt x="4343231" y="4775200"/>
                  <a:pt x="3911201" y="4775200"/>
                </a:cubicBezTo>
                <a:lnTo>
                  <a:pt x="0" y="4775200"/>
                </a:lnTo>
                <a:lnTo>
                  <a:pt x="0" y="782259"/>
                </a:lnTo>
                <a:cubicBezTo>
                  <a:pt x="0" y="350229"/>
                  <a:pt x="350229" y="0"/>
                  <a:pt x="782259" y="0"/>
                </a:cubicBezTo>
                <a:close/>
              </a:path>
            </a:pathLst>
          </a:custGeom>
        </p:spPr>
      </p:pic>
      <p:sp>
        <p:nvSpPr>
          <p:cNvPr id="7" name="Rectángulo: esquinas diagonales redondeadas 6">
            <a:extLst>
              <a:ext uri="{FF2B5EF4-FFF2-40B4-BE49-F238E27FC236}">
                <a16:creationId xmlns:a16="http://schemas.microsoft.com/office/drawing/2014/main" id="{F9FA4752-FEC5-864F-7840-26762E7BC27B}"/>
              </a:ext>
            </a:extLst>
          </p:cNvPr>
          <p:cNvSpPr/>
          <p:nvPr userDrawn="1"/>
        </p:nvSpPr>
        <p:spPr>
          <a:xfrm>
            <a:off x="5971770" y="1041400"/>
            <a:ext cx="4693460" cy="47752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0C23E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B27101-1DD8-6592-8B30-2A250A33EBB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64300" y="1769211"/>
            <a:ext cx="3708400" cy="910490"/>
          </a:xfrm>
          <a:prstGeom prst="rect">
            <a:avLst/>
          </a:prstGeom>
        </p:spPr>
        <p:txBody>
          <a:bodyPr anchor="ctr"/>
          <a:lstStyle>
            <a:lvl1pPr algn="ctr">
              <a:defRPr sz="4800" b="1"/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D874A2-7EC9-E66C-80F3-DE0EFDAD61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64300" y="3124200"/>
            <a:ext cx="3708400" cy="19558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Contenido de la información</a:t>
            </a:r>
            <a:endParaRPr lang="es-PE" dirty="0"/>
          </a:p>
        </p:txBody>
      </p:sp>
      <p:sp>
        <p:nvSpPr>
          <p:cNvPr id="4" name="Marcador de posición de imagen 2">
            <a:extLst>
              <a:ext uri="{FF2B5EF4-FFF2-40B4-BE49-F238E27FC236}">
                <a16:creationId xmlns:a16="http://schemas.microsoft.com/office/drawing/2014/main" id="{87FEFD0C-9459-A077-5F4F-F38D8613D6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1470" y="1041400"/>
            <a:ext cx="4682086" cy="4775200"/>
          </a:xfrm>
          <a:prstGeom prst="round2DiagRect">
            <a:avLst/>
          </a:prstGeom>
        </p:spPr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64029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f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Aplicación&#10;&#10;El contenido generado por IA puede ser incorrecto.">
            <a:extLst>
              <a:ext uri="{FF2B5EF4-FFF2-40B4-BE49-F238E27FC236}">
                <a16:creationId xmlns:a16="http://schemas.microsoft.com/office/drawing/2014/main" id="{07231DA1-63A1-E37B-3CAC-57344248F7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Imagen 10" descr="Un grupo de personas en uniforme&#10;&#10;El contenido generado por IA puede ser incorrecto.">
            <a:extLst>
              <a:ext uri="{FF2B5EF4-FFF2-40B4-BE49-F238E27FC236}">
                <a16:creationId xmlns:a16="http://schemas.microsoft.com/office/drawing/2014/main" id="{044273B1-249E-D401-2AA2-27FF1B98F1B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2800" y="1784759"/>
            <a:ext cx="5022502" cy="3715304"/>
          </a:xfrm>
          <a:custGeom>
            <a:avLst/>
            <a:gdLst>
              <a:gd name="csX0" fmla="*/ 378912 w 6060440"/>
              <a:gd name="csY0" fmla="*/ 0 h 4483100"/>
              <a:gd name="csX1" fmla="*/ 5681528 w 6060440"/>
              <a:gd name="csY1" fmla="*/ 0 h 4483100"/>
              <a:gd name="csX2" fmla="*/ 6060440 w 6060440"/>
              <a:gd name="csY2" fmla="*/ 378912 h 4483100"/>
              <a:gd name="csX3" fmla="*/ 6060440 w 6060440"/>
              <a:gd name="csY3" fmla="*/ 4104188 h 4483100"/>
              <a:gd name="csX4" fmla="*/ 5681528 w 6060440"/>
              <a:gd name="csY4" fmla="*/ 4483100 h 4483100"/>
              <a:gd name="csX5" fmla="*/ 378912 w 6060440"/>
              <a:gd name="csY5" fmla="*/ 4483100 h 4483100"/>
              <a:gd name="csX6" fmla="*/ 0 w 6060440"/>
              <a:gd name="csY6" fmla="*/ 4104188 h 4483100"/>
              <a:gd name="csX7" fmla="*/ 0 w 6060440"/>
              <a:gd name="csY7" fmla="*/ 378912 h 4483100"/>
              <a:gd name="csX8" fmla="*/ 378912 w 6060440"/>
              <a:gd name="csY8" fmla="*/ 0 h 4483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060440" h="4483100">
                <a:moveTo>
                  <a:pt x="378912" y="0"/>
                </a:moveTo>
                <a:lnTo>
                  <a:pt x="5681528" y="0"/>
                </a:lnTo>
                <a:cubicBezTo>
                  <a:pt x="5890795" y="0"/>
                  <a:pt x="6060440" y="169645"/>
                  <a:pt x="6060440" y="378912"/>
                </a:cubicBezTo>
                <a:lnTo>
                  <a:pt x="6060440" y="4104188"/>
                </a:lnTo>
                <a:cubicBezTo>
                  <a:pt x="6060440" y="4313455"/>
                  <a:pt x="5890795" y="4483100"/>
                  <a:pt x="5681528" y="4483100"/>
                </a:cubicBezTo>
                <a:lnTo>
                  <a:pt x="378912" y="4483100"/>
                </a:lnTo>
                <a:cubicBezTo>
                  <a:pt x="169645" y="4483100"/>
                  <a:pt x="0" y="4313455"/>
                  <a:pt x="0" y="4104188"/>
                </a:cubicBezTo>
                <a:lnTo>
                  <a:pt x="0" y="378912"/>
                </a:lnTo>
                <a:cubicBezTo>
                  <a:pt x="0" y="169645"/>
                  <a:pt x="169645" y="0"/>
                  <a:pt x="378912" y="0"/>
                </a:cubicBez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69F89D9-9AF0-C544-37F1-1EA234D8DF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93370" y="354012"/>
            <a:ext cx="9274630" cy="749300"/>
          </a:xfrm>
        </p:spPr>
        <p:txBody>
          <a:bodyPr anchor="ctr">
            <a:noAutofit/>
          </a:bodyPr>
          <a:lstStyle>
            <a:lvl1pPr algn="l">
              <a:defRPr sz="4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FE7010-426E-6067-6510-C7377AFDB60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63693" y="1900373"/>
            <a:ext cx="4000500" cy="224070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Contenido de la información</a:t>
            </a:r>
            <a:endParaRPr lang="es-PE" dirty="0"/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788789E8-9107-57B2-984C-450679B4D8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130" y="460375"/>
            <a:ext cx="464186" cy="464186"/>
          </a:xfrm>
          <a:prstGeom prst="rect">
            <a:avLst/>
          </a:prstGeom>
        </p:spPr>
      </p:pic>
      <p:sp>
        <p:nvSpPr>
          <p:cNvPr id="16" name="Marcador de posición de imagen 15">
            <a:extLst>
              <a:ext uri="{FF2B5EF4-FFF2-40B4-BE49-F238E27FC236}">
                <a16:creationId xmlns:a16="http://schemas.microsoft.com/office/drawing/2014/main" id="{8E496E4F-E01C-1C93-1A75-0A96271622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2800" y="1784759"/>
            <a:ext cx="5022502" cy="3715304"/>
          </a:xfrm>
          <a:prstGeom prst="roundRect">
            <a:avLst>
              <a:gd name="adj" fmla="val 8168"/>
            </a:avLst>
          </a:prstGeom>
        </p:spPr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85389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con título_ver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912FF1CF-F996-DE5D-0FC4-DBBA402AA0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Imagen 9" descr="Un jugador de juguete&#10;&#10;El contenido generado por IA puede ser incorrecto.">
            <a:extLst>
              <a:ext uri="{FF2B5EF4-FFF2-40B4-BE49-F238E27FC236}">
                <a16:creationId xmlns:a16="http://schemas.microsoft.com/office/drawing/2014/main" id="{02FB4717-5A97-A3AB-81FA-B8904181AF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473700" y="844550"/>
            <a:ext cx="4622800" cy="5168900"/>
          </a:xfrm>
          <a:custGeom>
            <a:avLst/>
            <a:gdLst>
              <a:gd name="csX0" fmla="*/ 770482 w 4622800"/>
              <a:gd name="csY0" fmla="*/ 0 h 5168900"/>
              <a:gd name="csX1" fmla="*/ 4622800 w 4622800"/>
              <a:gd name="csY1" fmla="*/ 0 h 5168900"/>
              <a:gd name="csX2" fmla="*/ 4622800 w 4622800"/>
              <a:gd name="csY2" fmla="*/ 4398418 h 5168900"/>
              <a:gd name="csX3" fmla="*/ 3852318 w 4622800"/>
              <a:gd name="csY3" fmla="*/ 5168900 h 5168900"/>
              <a:gd name="csX4" fmla="*/ 0 w 4622800"/>
              <a:gd name="csY4" fmla="*/ 5168900 h 5168900"/>
              <a:gd name="csX5" fmla="*/ 0 w 4622800"/>
              <a:gd name="csY5" fmla="*/ 770482 h 5168900"/>
              <a:gd name="csX6" fmla="*/ 770482 w 4622800"/>
              <a:gd name="csY6" fmla="*/ 0 h 5168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622800" h="5168900">
                <a:moveTo>
                  <a:pt x="770482" y="0"/>
                </a:moveTo>
                <a:lnTo>
                  <a:pt x="4622800" y="0"/>
                </a:lnTo>
                <a:lnTo>
                  <a:pt x="4622800" y="4398418"/>
                </a:lnTo>
                <a:cubicBezTo>
                  <a:pt x="4622800" y="4823943"/>
                  <a:pt x="4277843" y="5168900"/>
                  <a:pt x="3852318" y="5168900"/>
                </a:cubicBezTo>
                <a:lnTo>
                  <a:pt x="0" y="5168900"/>
                </a:lnTo>
                <a:lnTo>
                  <a:pt x="0" y="770482"/>
                </a:lnTo>
                <a:cubicBezTo>
                  <a:pt x="0" y="344957"/>
                  <a:pt x="344957" y="0"/>
                  <a:pt x="770482" y="0"/>
                </a:cubicBezTo>
                <a:close/>
              </a:path>
            </a:pathLst>
          </a:custGeom>
        </p:spPr>
      </p:pic>
      <p:sp>
        <p:nvSpPr>
          <p:cNvPr id="11" name="Título 10">
            <a:extLst>
              <a:ext uri="{FF2B5EF4-FFF2-40B4-BE49-F238E27FC236}">
                <a16:creationId xmlns:a16="http://schemas.microsoft.com/office/drawing/2014/main" id="{06C804B6-64E3-E22B-BAA4-3EC88BC59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2422525"/>
            <a:ext cx="4114800" cy="574675"/>
          </a:xfrm>
          <a:prstGeom prst="rect">
            <a:avLst/>
          </a:prstGeom>
        </p:spPr>
        <p:txBody>
          <a:bodyPr/>
          <a:lstStyle>
            <a:lvl1pPr algn="l"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2" name="Marcador de posición de imagen 2">
            <a:extLst>
              <a:ext uri="{FF2B5EF4-FFF2-40B4-BE49-F238E27FC236}">
                <a16:creationId xmlns:a16="http://schemas.microsoft.com/office/drawing/2014/main" id="{76982B2A-6667-7CE0-4923-E6F5D322AD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73700" y="844550"/>
            <a:ext cx="4597400" cy="5168900"/>
          </a:xfrm>
          <a:prstGeom prst="round2DiagRect">
            <a:avLst/>
          </a:prstGeom>
        </p:spPr>
        <p:txBody>
          <a:bodyPr/>
          <a:lstStyle/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55422E-A94F-B132-FC39-788E24E27F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6300" y="3278188"/>
            <a:ext cx="4114800" cy="1900237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29877331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vertical_ver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C9FAB7D0-2086-6896-E7E4-778B5D6C29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791E856-A0E2-8071-BCA3-5D2FA78AF9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8200" y="635000"/>
            <a:ext cx="5257800" cy="6223000"/>
          </a:xfrm>
          <a:custGeom>
            <a:avLst/>
            <a:gdLst>
              <a:gd name="csX0" fmla="*/ 963103 w 5778500"/>
              <a:gd name="csY0" fmla="*/ 0 h 5334000"/>
              <a:gd name="csX1" fmla="*/ 5778500 w 5778500"/>
              <a:gd name="csY1" fmla="*/ 0 h 5334000"/>
              <a:gd name="csX2" fmla="*/ 5778500 w 5778500"/>
              <a:gd name="csY2" fmla="*/ 5196397 h 5334000"/>
              <a:gd name="csX3" fmla="*/ 5764629 w 5778500"/>
              <a:gd name="csY3" fmla="*/ 5334000 h 5334000"/>
              <a:gd name="csX4" fmla="*/ 0 w 5778500"/>
              <a:gd name="csY4" fmla="*/ 5334000 h 5334000"/>
              <a:gd name="csX5" fmla="*/ 0 w 5778500"/>
              <a:gd name="csY5" fmla="*/ 963103 h 5334000"/>
              <a:gd name="csX6" fmla="*/ 963103 w 5778500"/>
              <a:gd name="csY6" fmla="*/ 0 h 533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778500" h="5334000">
                <a:moveTo>
                  <a:pt x="963103" y="0"/>
                </a:moveTo>
                <a:lnTo>
                  <a:pt x="5778500" y="0"/>
                </a:lnTo>
                <a:lnTo>
                  <a:pt x="5778500" y="5196397"/>
                </a:lnTo>
                <a:lnTo>
                  <a:pt x="5764629" y="5334000"/>
                </a:lnTo>
                <a:lnTo>
                  <a:pt x="0" y="5334000"/>
                </a:lnTo>
                <a:lnTo>
                  <a:pt x="0" y="963103"/>
                </a:lnTo>
                <a:cubicBezTo>
                  <a:pt x="0" y="431196"/>
                  <a:pt x="431196" y="0"/>
                  <a:pt x="963103" y="0"/>
                </a:cubicBezTo>
                <a:close/>
              </a:path>
            </a:pathLst>
          </a:custGeom>
        </p:spPr>
      </p:pic>
      <p:sp>
        <p:nvSpPr>
          <p:cNvPr id="15" name="Título 10">
            <a:extLst>
              <a:ext uri="{FF2B5EF4-FFF2-40B4-BE49-F238E27FC236}">
                <a16:creationId xmlns:a16="http://schemas.microsoft.com/office/drawing/2014/main" id="{8DD6C3E1-BC60-A9D5-FCB6-5C4DBE532D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9600" y="2211387"/>
            <a:ext cx="4114800" cy="574675"/>
          </a:xfrm>
          <a:prstGeom prst="rect">
            <a:avLst/>
          </a:prstGeom>
        </p:spPr>
        <p:txBody>
          <a:bodyPr/>
          <a:lstStyle>
            <a:lvl1pPr algn="l">
              <a:defRPr sz="4000" b="1"/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18" name="Marcador de posición de imagen 2">
            <a:extLst>
              <a:ext uri="{FF2B5EF4-FFF2-40B4-BE49-F238E27FC236}">
                <a16:creationId xmlns:a16="http://schemas.microsoft.com/office/drawing/2014/main" id="{1EBA4F4B-7C47-0107-A35F-53900A39FD5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563081"/>
            <a:ext cx="5257800" cy="7061200"/>
          </a:xfrm>
          <a:prstGeom prst="round2DiagRect">
            <a:avLst>
              <a:gd name="adj1" fmla="val 15943"/>
              <a:gd name="adj2" fmla="val 0"/>
            </a:avLst>
          </a:prstGeom>
        </p:spPr>
        <p:txBody>
          <a:bodyPr/>
          <a:lstStyle/>
          <a:p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4FAFDB-C190-F7DC-CA92-956EE00437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59600" y="3041650"/>
            <a:ext cx="4114800" cy="2455862"/>
          </a:xfrm>
          <a:prstGeom prst="rect">
            <a:avLst/>
          </a:prstGeom>
        </p:spPr>
        <p:txBody>
          <a:bodyPr/>
          <a:lstStyle>
            <a:lvl1pPr>
              <a:buNone/>
              <a:defRPr sz="2400"/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2705281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izquierda_ver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8F0D6765-1D38-3D64-A391-3C21BCE03CD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Imagen 8" descr="Jugador de futbol americano&#10;&#10;El contenido generado por IA puede ser incorrecto.">
            <a:extLst>
              <a:ext uri="{FF2B5EF4-FFF2-40B4-BE49-F238E27FC236}">
                <a16:creationId xmlns:a16="http://schemas.microsoft.com/office/drawing/2014/main" id="{B1A9AABE-605A-3F5D-A5BC-5CD654653A7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4673600" cy="6858000"/>
          </a:xfrm>
          <a:custGeom>
            <a:avLst/>
            <a:gdLst>
              <a:gd name="csX0" fmla="*/ 0 w 3784600"/>
              <a:gd name="csY0" fmla="*/ 0 h 6858000"/>
              <a:gd name="csX1" fmla="*/ 3784600 w 3784600"/>
              <a:gd name="csY1" fmla="*/ 0 h 6858000"/>
              <a:gd name="csX2" fmla="*/ 3784600 w 3784600"/>
              <a:gd name="csY2" fmla="*/ 6858000 h 6858000"/>
              <a:gd name="csX3" fmla="*/ 0 w 37846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784600" h="6858000">
                <a:moveTo>
                  <a:pt x="0" y="0"/>
                </a:moveTo>
                <a:lnTo>
                  <a:pt x="3784600" y="0"/>
                </a:lnTo>
                <a:lnTo>
                  <a:pt x="37846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22A256E-DB18-D1D0-D3AA-CC3A6D6759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0" y="2370137"/>
            <a:ext cx="3937000" cy="766763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19D25575-871C-2AE4-E213-74F63150CB9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673600" cy="6858000"/>
          </a:xfrm>
          <a:prstGeom prst="rect">
            <a:avLst/>
          </a:prstGeom>
        </p:spPr>
        <p:txBody>
          <a:bodyPr/>
          <a:lstStyle/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6254CA-662E-6E6B-9B2C-232F217312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15000" y="3429000"/>
            <a:ext cx="3937000" cy="1954213"/>
          </a:xfrm>
          <a:prstGeom prst="rect">
            <a:avLst/>
          </a:prstGeom>
        </p:spPr>
        <p:txBody>
          <a:bodyPr/>
          <a:lstStyle>
            <a:lvl1pPr>
              <a:buNone/>
              <a:defRPr sz="2400"/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25716916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vertical_azu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Patrón de fondo&#10;&#10;El contenido generado por IA puede ser incorrecto.">
            <a:extLst>
              <a:ext uri="{FF2B5EF4-FFF2-40B4-BE49-F238E27FC236}">
                <a16:creationId xmlns:a16="http://schemas.microsoft.com/office/drawing/2014/main" id="{CE238535-CA69-1411-446C-B1C5308E36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791E856-A0E2-8071-BCA3-5D2FA78AF96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8200" y="635000"/>
            <a:ext cx="5257800" cy="6223000"/>
          </a:xfrm>
          <a:custGeom>
            <a:avLst/>
            <a:gdLst>
              <a:gd name="csX0" fmla="*/ 963103 w 5778500"/>
              <a:gd name="csY0" fmla="*/ 0 h 5334000"/>
              <a:gd name="csX1" fmla="*/ 5778500 w 5778500"/>
              <a:gd name="csY1" fmla="*/ 0 h 5334000"/>
              <a:gd name="csX2" fmla="*/ 5778500 w 5778500"/>
              <a:gd name="csY2" fmla="*/ 5196397 h 5334000"/>
              <a:gd name="csX3" fmla="*/ 5764629 w 5778500"/>
              <a:gd name="csY3" fmla="*/ 5334000 h 5334000"/>
              <a:gd name="csX4" fmla="*/ 0 w 5778500"/>
              <a:gd name="csY4" fmla="*/ 5334000 h 5334000"/>
              <a:gd name="csX5" fmla="*/ 0 w 5778500"/>
              <a:gd name="csY5" fmla="*/ 963103 h 5334000"/>
              <a:gd name="csX6" fmla="*/ 963103 w 5778500"/>
              <a:gd name="csY6" fmla="*/ 0 h 533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778500" h="5334000">
                <a:moveTo>
                  <a:pt x="963103" y="0"/>
                </a:moveTo>
                <a:lnTo>
                  <a:pt x="5778500" y="0"/>
                </a:lnTo>
                <a:lnTo>
                  <a:pt x="5778500" y="5196397"/>
                </a:lnTo>
                <a:lnTo>
                  <a:pt x="5764629" y="5334000"/>
                </a:lnTo>
                <a:lnTo>
                  <a:pt x="0" y="5334000"/>
                </a:lnTo>
                <a:lnTo>
                  <a:pt x="0" y="963103"/>
                </a:lnTo>
                <a:cubicBezTo>
                  <a:pt x="0" y="431196"/>
                  <a:pt x="431196" y="0"/>
                  <a:pt x="963103" y="0"/>
                </a:cubicBezTo>
                <a:close/>
              </a:path>
            </a:pathLst>
          </a:custGeom>
        </p:spPr>
      </p:pic>
      <p:sp>
        <p:nvSpPr>
          <p:cNvPr id="15" name="Título 10">
            <a:extLst>
              <a:ext uri="{FF2B5EF4-FFF2-40B4-BE49-F238E27FC236}">
                <a16:creationId xmlns:a16="http://schemas.microsoft.com/office/drawing/2014/main" id="{8DD6C3E1-BC60-A9D5-FCB6-5C4DBE532D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9600" y="2498725"/>
            <a:ext cx="4114800" cy="574675"/>
          </a:xfrm>
          <a:prstGeom prst="rect">
            <a:avLst/>
          </a:prstGeom>
        </p:spPr>
        <p:txBody>
          <a:bodyPr/>
          <a:lstStyle>
            <a:lvl1pPr algn="l">
              <a:defRPr sz="4000" b="1"/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2" name="Marcador de posición de imagen 2">
            <a:extLst>
              <a:ext uri="{FF2B5EF4-FFF2-40B4-BE49-F238E27FC236}">
                <a16:creationId xmlns:a16="http://schemas.microsoft.com/office/drawing/2014/main" id="{32C4FD69-C97B-B1F5-3329-B95B64B8F5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635000"/>
            <a:ext cx="5257800" cy="7061200"/>
          </a:xfrm>
          <a:prstGeom prst="round2DiagRect">
            <a:avLst/>
          </a:prstGeom>
        </p:spPr>
        <p:txBody>
          <a:bodyPr/>
          <a:lstStyle/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73F197B-9FB3-9974-4884-2BBF25B14B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59600" y="3338513"/>
            <a:ext cx="4114800" cy="2239962"/>
          </a:xfrm>
          <a:prstGeom prst="rect">
            <a:avLst/>
          </a:prstGeom>
        </p:spPr>
        <p:txBody>
          <a:bodyPr/>
          <a:lstStyle>
            <a:lvl1pPr>
              <a:buNone/>
              <a:defRPr sz="2400"/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25545250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vertical_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E67DA158-5DCC-694D-818F-204434749AC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5" name="Título 10">
            <a:extLst>
              <a:ext uri="{FF2B5EF4-FFF2-40B4-BE49-F238E27FC236}">
                <a16:creationId xmlns:a16="http://schemas.microsoft.com/office/drawing/2014/main" id="{8DD6C3E1-BC60-A9D5-FCB6-5C4DBE532D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9600" y="2498725"/>
            <a:ext cx="4114800" cy="574675"/>
          </a:xfrm>
          <a:prstGeom prst="rect">
            <a:avLst/>
          </a:prstGeom>
        </p:spPr>
        <p:txBody>
          <a:bodyPr/>
          <a:lstStyle>
            <a:lvl1pPr algn="l"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2" name="Marcador de posición de imagen 2">
            <a:extLst>
              <a:ext uri="{FF2B5EF4-FFF2-40B4-BE49-F238E27FC236}">
                <a16:creationId xmlns:a16="http://schemas.microsoft.com/office/drawing/2014/main" id="{A7175A3E-4C5F-F9C8-68DD-34E496A0C9C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06868" y="635000"/>
            <a:ext cx="5257800" cy="7061200"/>
          </a:xfrm>
          <a:prstGeom prst="round2DiagRect">
            <a:avLst>
              <a:gd name="adj1" fmla="val 15943"/>
              <a:gd name="adj2" fmla="val 0"/>
            </a:avLst>
          </a:prstGeom>
        </p:spPr>
        <p:txBody>
          <a:bodyPr/>
          <a:lstStyle/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68E8331-770F-D5EA-E029-E69B12621E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59600" y="3278188"/>
            <a:ext cx="4114800" cy="2311400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17989108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con título_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CC00D1B3-B507-9B29-6C7B-4ABF959AE6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ítulo 10">
            <a:extLst>
              <a:ext uri="{FF2B5EF4-FFF2-40B4-BE49-F238E27FC236}">
                <a16:creationId xmlns:a16="http://schemas.microsoft.com/office/drawing/2014/main" id="{06C804B6-64E3-E22B-BAA4-3EC88BC59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1914" y="2422525"/>
            <a:ext cx="4114800" cy="574675"/>
          </a:xfrm>
          <a:prstGeom prst="rect">
            <a:avLst/>
          </a:prstGeom>
        </p:spPr>
        <p:txBody>
          <a:bodyPr/>
          <a:lstStyle>
            <a:lvl1pPr algn="l"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21A7D51-C5DD-BB08-39FD-D6A2EFBA3D9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93236" y="844550"/>
            <a:ext cx="4622800" cy="5168900"/>
          </a:xfrm>
          <a:prstGeom prst="round2DiagRect">
            <a:avLst/>
          </a:prstGeom>
        </p:spPr>
        <p:txBody>
          <a:bodyPr/>
          <a:lstStyle/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0E50D66-A8FD-196B-029A-E695904F50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1914" y="3278188"/>
            <a:ext cx="4024313" cy="1900237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71823490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izquierda_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1188A6AF-EB7B-F2C0-F611-12C4BAFDF4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22A256E-DB18-D1D0-D3AA-CC3A6D6759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0" y="2370137"/>
            <a:ext cx="3937000" cy="7667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C5262A93-D05A-1DEB-8832-062E70F180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673600" cy="6858000"/>
          </a:xfrm>
          <a:prstGeom prst="rect">
            <a:avLst/>
          </a:prstGeom>
        </p:spPr>
        <p:txBody>
          <a:bodyPr/>
          <a:lstStyle/>
          <a:p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91D158-31C1-8CF6-4537-04285EDDAA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15000" y="3338513"/>
            <a:ext cx="3937000" cy="2097087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49731393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magen que contiene Gráfico&#10;&#10;El contenido generado por IA puede ser incorrecto.">
            <a:extLst>
              <a:ext uri="{FF2B5EF4-FFF2-40B4-BE49-F238E27FC236}">
                <a16:creationId xmlns:a16="http://schemas.microsoft.com/office/drawing/2014/main" id="{65DA10D0-6AFA-38B6-9CA7-6575C616D4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96B40B9B-A0FE-FB65-0E1E-9A7869FBAF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68500" y="3932238"/>
            <a:ext cx="3898900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Frase</a:t>
            </a:r>
            <a:endParaRPr lang="es-PE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815A1A-6C84-4EBD-47BC-CA8957D365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9300" y="2719388"/>
            <a:ext cx="4267200" cy="242570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s-PE" dirty="0"/>
              <a:t>Información adicional</a:t>
            </a:r>
          </a:p>
        </p:txBody>
      </p:sp>
      <p:sp>
        <p:nvSpPr>
          <p:cNvPr id="2" name="Marcador de texto 30">
            <a:extLst>
              <a:ext uri="{FF2B5EF4-FFF2-40B4-BE49-F238E27FC236}">
                <a16:creationId xmlns:a16="http://schemas.microsoft.com/office/drawing/2014/main" id="{AAB0EF04-6FB3-6510-2107-D0BDEEB10C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98900" y="1193800"/>
            <a:ext cx="1968500" cy="127000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Pon el logo de tu VP aquí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98329277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se con información_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Forma&#10;&#10;El contenido generado por IA puede ser incorrecto.">
            <a:extLst>
              <a:ext uri="{FF2B5EF4-FFF2-40B4-BE49-F238E27FC236}">
                <a16:creationId xmlns:a16="http://schemas.microsoft.com/office/drawing/2014/main" id="{61AEE7EF-9BD0-85B8-E359-2482ABF300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96B40B9B-A0FE-FB65-0E1E-9A7869FBAF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68500" y="3932238"/>
            <a:ext cx="3898900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Frase</a:t>
            </a:r>
            <a:endParaRPr lang="es-PE" dirty="0"/>
          </a:p>
        </p:txBody>
      </p:sp>
      <p:sp>
        <p:nvSpPr>
          <p:cNvPr id="29" name="Marcador de texto 4">
            <a:extLst>
              <a:ext uri="{FF2B5EF4-FFF2-40B4-BE49-F238E27FC236}">
                <a16:creationId xmlns:a16="http://schemas.microsoft.com/office/drawing/2014/main" id="{549F9120-2586-1D1B-FC80-1F60640C99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9300" y="2719388"/>
            <a:ext cx="4267200" cy="242570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rgbClr val="008F2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s-PE" dirty="0"/>
              <a:t>Información adicional</a:t>
            </a:r>
          </a:p>
        </p:txBody>
      </p:sp>
      <p:sp>
        <p:nvSpPr>
          <p:cNvPr id="31" name="Marcador de texto 30">
            <a:extLst>
              <a:ext uri="{FF2B5EF4-FFF2-40B4-BE49-F238E27FC236}">
                <a16:creationId xmlns:a16="http://schemas.microsoft.com/office/drawing/2014/main" id="{93EF2581-7388-8D49-CC01-F995880322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98900" y="1193800"/>
            <a:ext cx="1968500" cy="127000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Pon el logo de tu VP aquí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3088397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se con información_azu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Gráfico&#10;&#10;El contenido generado por IA puede ser incorrecto.">
            <a:extLst>
              <a:ext uri="{FF2B5EF4-FFF2-40B4-BE49-F238E27FC236}">
                <a16:creationId xmlns:a16="http://schemas.microsoft.com/office/drawing/2014/main" id="{F7DB886C-8D23-26C0-9FCD-365C01A487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96B40B9B-A0FE-FB65-0E1E-9A7869FBAF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68500" y="3932238"/>
            <a:ext cx="3898900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3600" b="1">
                <a:solidFill>
                  <a:srgbClr val="00C23E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Frase</a:t>
            </a:r>
            <a:endParaRPr lang="es-PE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815A1A-6C84-4EBD-47BC-CA8957D365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9300" y="2719388"/>
            <a:ext cx="4267200" cy="242570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s-PE" dirty="0"/>
              <a:t>Información adicional</a:t>
            </a:r>
          </a:p>
        </p:txBody>
      </p:sp>
      <p:sp>
        <p:nvSpPr>
          <p:cNvPr id="6" name="Marcador de texto 30">
            <a:extLst>
              <a:ext uri="{FF2B5EF4-FFF2-40B4-BE49-F238E27FC236}">
                <a16:creationId xmlns:a16="http://schemas.microsoft.com/office/drawing/2014/main" id="{10F4E1D8-BBA0-43CF-E185-BF0A1EE16C4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98900" y="1193800"/>
            <a:ext cx="1968500" cy="127000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Pon el logo de tu VP aquí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82109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273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702" r:id="rId2"/>
    <p:sldLayoutId id="2147483707" r:id="rId3"/>
    <p:sldLayoutId id="2147483701" r:id="rId4"/>
    <p:sldLayoutId id="2147483703" r:id="rId5"/>
    <p:sldLayoutId id="2147483705" r:id="rId6"/>
    <p:sldLayoutId id="2147483734" r:id="rId7"/>
    <p:sldLayoutId id="2147483665" r:id="rId8"/>
    <p:sldLayoutId id="2147483764" r:id="rId9"/>
    <p:sldLayoutId id="2147483765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058327A-7548-0392-82C9-FED681BBD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Títulos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55743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678" r:id="rId6"/>
    <p:sldLayoutId id="2147483712" r:id="rId7"/>
    <p:sldLayoutId id="2147483713" r:id="rId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bg1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058327A-7548-0392-82C9-FED681BBD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Títulos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06390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bg1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3121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46" r:id="rId3"/>
    <p:sldLayoutId id="2147483730" r:id="rId4"/>
    <p:sldLayoutId id="2147483709" r:id="rId5"/>
    <p:sldLayoutId id="2147483680" r:id="rId6"/>
    <p:sldLayoutId id="2147483683" r:id="rId7"/>
    <p:sldLayoutId id="2147483731" r:id="rId8"/>
    <p:sldLayoutId id="2147483745" r:id="rId9"/>
    <p:sldLayoutId id="2147483732" r:id="rId10"/>
    <p:sldLayoutId id="21474837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6574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15" r:id="rId2"/>
    <p:sldLayoutId id="214748372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48.sv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12" Type="http://schemas.openxmlformats.org/officeDocument/2006/relationships/image" Target="../media/image4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1.svg"/><Relationship Id="rId11" Type="http://schemas.openxmlformats.org/officeDocument/2006/relationships/image" Target="../media/image46.svg"/><Relationship Id="rId5" Type="http://schemas.openxmlformats.org/officeDocument/2006/relationships/image" Target="../media/image40.sv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900D1D-2DBE-C347-892B-02A1D72BB1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0529"/>
            <a:ext cx="9144000" cy="1905000"/>
          </a:xfrm>
        </p:spPr>
        <p:txBody>
          <a:bodyPr>
            <a:noAutofit/>
          </a:bodyPr>
          <a:lstStyle/>
          <a:p>
            <a:r>
              <a:rPr lang="es-ES" sz="6000" dirty="0"/>
              <a:t>Plataforma de consulta centralizada</a:t>
            </a:r>
            <a:endParaRPr lang="es-PE" sz="600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F8A04C49-759D-E148-596D-1C4113C3AE20}"/>
              </a:ext>
            </a:extLst>
          </p:cNvPr>
          <p:cNvSpPr txBox="1">
            <a:spLocks/>
          </p:cNvSpPr>
          <p:nvPr/>
        </p:nvSpPr>
        <p:spPr>
          <a:xfrm>
            <a:off x="1715729" y="3925529"/>
            <a:ext cx="9144000" cy="6858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chemeClr val="bg1"/>
                </a:solidFill>
                <a:latin typeface="Poppins" panose="00000500000000000000" pitchFamily="2" charset="0"/>
                <a:ea typeface="+mj-ea"/>
                <a:cs typeface="Poppins" panose="00000500000000000000" pitchFamily="2" charset="0"/>
              </a:defRPr>
            </a:lvl1pPr>
          </a:lstStyle>
          <a:p>
            <a:r>
              <a:rPr lang="es-ES" sz="1800" dirty="0"/>
              <a:t>Unificación de registros para la búsqueda </a:t>
            </a:r>
          </a:p>
          <a:p>
            <a:r>
              <a:rPr lang="es-ES" sz="1800" dirty="0"/>
              <a:t>ágil y resolución inmediata de clientes</a:t>
            </a:r>
            <a:endParaRPr lang="es-PE" sz="1800" dirty="0"/>
          </a:p>
        </p:txBody>
      </p:sp>
    </p:spTree>
    <p:extLst>
      <p:ext uri="{BB962C8B-B14F-4D97-AF65-F5344CB8AC3E}">
        <p14:creationId xmlns:p14="http://schemas.microsoft.com/office/powerpoint/2010/main" val="3153094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F4F62-2A7C-8B9E-4150-C910CF0F3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E027D9E4-D5B6-1CA9-5442-320F8BA3DB3A}"/>
              </a:ext>
            </a:extLst>
          </p:cNvPr>
          <p:cNvSpPr txBox="1">
            <a:spLocks/>
          </p:cNvSpPr>
          <p:nvPr/>
        </p:nvSpPr>
        <p:spPr>
          <a:xfrm>
            <a:off x="369686" y="491576"/>
            <a:ext cx="10366864" cy="700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800" b="1" kern="1200">
                <a:solidFill>
                  <a:srgbClr val="00D03C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4000" b="1" i="0" u="none" strike="noStrike" kern="1200" cap="none" spc="0" normalizeH="0" baseline="0" noProof="0" dirty="0">
                <a:ln>
                  <a:noFill/>
                </a:ln>
                <a:solidFill>
                  <a:srgbClr val="003AAC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Optimización de Gestión de Cartera</a:t>
            </a:r>
            <a:endParaRPr kumimoji="0" lang="es-PE" sz="4000" b="1" i="0" u="none" strike="noStrike" kern="1200" cap="none" spc="0" normalizeH="0" baseline="0" noProof="0" dirty="0">
              <a:ln>
                <a:noFill/>
              </a:ln>
              <a:solidFill>
                <a:srgbClr val="003AAC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7" name="Marcador de texto 1">
            <a:extLst>
              <a:ext uri="{FF2B5EF4-FFF2-40B4-BE49-F238E27FC236}">
                <a16:creationId xmlns:a16="http://schemas.microsoft.com/office/drawing/2014/main" id="{2CB69E1F-817A-DAF3-8E6A-D043688B4FA8}"/>
              </a:ext>
            </a:extLst>
          </p:cNvPr>
          <p:cNvSpPr txBox="1">
            <a:spLocks/>
          </p:cNvSpPr>
          <p:nvPr/>
        </p:nvSpPr>
        <p:spPr>
          <a:xfrm>
            <a:off x="369686" y="1123754"/>
            <a:ext cx="4128113" cy="4543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800" b="1" kern="1200">
                <a:solidFill>
                  <a:srgbClr val="00D03C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srgbClr val="008F28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Impacto Operativo</a:t>
            </a:r>
            <a:endParaRPr kumimoji="0" lang="es-PE" sz="2800" b="1" i="0" u="none" strike="noStrike" kern="1200" cap="none" spc="0" normalizeH="0" baseline="0" noProof="0" dirty="0">
              <a:ln>
                <a:noFill/>
              </a:ln>
              <a:solidFill>
                <a:srgbClr val="008F28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9" name="Marcador de texto 1">
            <a:extLst>
              <a:ext uri="{FF2B5EF4-FFF2-40B4-BE49-F238E27FC236}">
                <a16:creationId xmlns:a16="http://schemas.microsoft.com/office/drawing/2014/main" id="{650D119A-A56C-CA32-29DD-F06112F052B4}"/>
              </a:ext>
            </a:extLst>
          </p:cNvPr>
          <p:cNvSpPr txBox="1">
            <a:spLocks/>
          </p:cNvSpPr>
          <p:nvPr/>
        </p:nvSpPr>
        <p:spPr>
          <a:xfrm>
            <a:off x="527694" y="1638105"/>
            <a:ext cx="10878360" cy="32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800" b="1" kern="1200">
                <a:solidFill>
                  <a:srgbClr val="00D03C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03AAC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Evolución del Modelo de Atención</a:t>
            </a:r>
            <a:endParaRPr kumimoji="0" lang="es-PE" sz="1600" b="1" i="0" u="none" strike="noStrike" kern="1200" cap="none" spc="0" normalizeH="0" baseline="0" noProof="0" dirty="0">
              <a:ln>
                <a:noFill/>
              </a:ln>
              <a:solidFill>
                <a:srgbClr val="003AAC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9A57F74-B78F-F660-B9AA-86631B7349E9}"/>
              </a:ext>
            </a:extLst>
          </p:cNvPr>
          <p:cNvSpPr/>
          <p:nvPr/>
        </p:nvSpPr>
        <p:spPr>
          <a:xfrm>
            <a:off x="1852677" y="2328413"/>
            <a:ext cx="4153526" cy="1590791"/>
          </a:xfrm>
          <a:prstGeom prst="rect">
            <a:avLst/>
          </a:prstGeom>
          <a:solidFill>
            <a:schemeClr val="bg1"/>
          </a:solidFill>
          <a:ln>
            <a:solidFill>
              <a:srgbClr val="003A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C0A2DA27-928B-57F1-1236-94A53CE93B7D}"/>
              </a:ext>
            </a:extLst>
          </p:cNvPr>
          <p:cNvSpPr/>
          <p:nvPr/>
        </p:nvSpPr>
        <p:spPr>
          <a:xfrm>
            <a:off x="6394577" y="2383079"/>
            <a:ext cx="4028143" cy="1536125"/>
          </a:xfrm>
          <a:prstGeom prst="rect">
            <a:avLst/>
          </a:prstGeom>
          <a:solidFill>
            <a:schemeClr val="bg1"/>
          </a:solidFill>
          <a:ln w="4465" cap="flat">
            <a:solidFill>
              <a:srgbClr val="008F28"/>
            </a:solidFill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8" name="Rectángulo: esquinas superiores redondeadas 27">
            <a:extLst>
              <a:ext uri="{FF2B5EF4-FFF2-40B4-BE49-F238E27FC236}">
                <a16:creationId xmlns:a16="http://schemas.microsoft.com/office/drawing/2014/main" id="{56925E96-C452-4498-91AA-9B49A07EDD84}"/>
              </a:ext>
            </a:extLst>
          </p:cNvPr>
          <p:cNvSpPr/>
          <p:nvPr/>
        </p:nvSpPr>
        <p:spPr>
          <a:xfrm>
            <a:off x="1852677" y="2026388"/>
            <a:ext cx="4153526" cy="470492"/>
          </a:xfrm>
          <a:prstGeom prst="round2SameRect">
            <a:avLst/>
          </a:prstGeom>
          <a:solidFill>
            <a:srgbClr val="003AAC"/>
          </a:solidFill>
          <a:ln>
            <a:solidFill>
              <a:srgbClr val="003A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latin typeface="Poppins" panose="00000500000000000000" pitchFamily="2" charset="0"/>
                <a:cs typeface="Poppins" panose="00000500000000000000" pitchFamily="2" charset="0"/>
              </a:rPr>
              <a:t>Situación Anterior (Reactiva)</a:t>
            </a:r>
            <a:endParaRPr lang="es-PE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Rectángulo: esquinas superiores redondeadas 29">
            <a:extLst>
              <a:ext uri="{FF2B5EF4-FFF2-40B4-BE49-F238E27FC236}">
                <a16:creationId xmlns:a16="http://schemas.microsoft.com/office/drawing/2014/main" id="{0C3E74F8-5D93-9945-B418-1C1E6BE2F0FE}"/>
              </a:ext>
            </a:extLst>
          </p:cNvPr>
          <p:cNvSpPr/>
          <p:nvPr/>
        </p:nvSpPr>
        <p:spPr>
          <a:xfrm>
            <a:off x="6394577" y="2042556"/>
            <a:ext cx="4028143" cy="454324"/>
          </a:xfrm>
          <a:prstGeom prst="round2SameRect">
            <a:avLst/>
          </a:prstGeom>
          <a:solidFill>
            <a:srgbClr val="008F28"/>
          </a:solidFill>
          <a:ln>
            <a:solidFill>
              <a:srgbClr val="008F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latin typeface="Poppins" panose="00000500000000000000" pitchFamily="2" charset="0"/>
                <a:cs typeface="Poppins" panose="00000500000000000000" pitchFamily="2" charset="0"/>
              </a:rPr>
              <a:t>Nueva Propuesta (Proactiva)</a:t>
            </a:r>
            <a:endParaRPr lang="es-PE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E4787110-0388-0567-BCA2-4DE7F53FAAA5}"/>
              </a:ext>
            </a:extLst>
          </p:cNvPr>
          <p:cNvSpPr txBox="1"/>
          <p:nvPr/>
        </p:nvSpPr>
        <p:spPr>
          <a:xfrm>
            <a:off x="2619592" y="2617133"/>
            <a:ext cx="3406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Poppins" panose="00000500000000000000" pitchFamily="2" charset="0"/>
                <a:cs typeface="Poppins" panose="00000500000000000000" pitchFamily="2" charset="0"/>
              </a:rPr>
              <a:t>Dependencia de ciclos de actualización externos, para atención limitada a la disponibilidad del producto</a:t>
            </a:r>
            <a:endParaRPr lang="es-PE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408AF23-A743-D14D-9257-472FB1A47AF0}"/>
              </a:ext>
            </a:extLst>
          </p:cNvPr>
          <p:cNvSpPr txBox="1"/>
          <p:nvPr/>
        </p:nvSpPr>
        <p:spPr>
          <a:xfrm>
            <a:off x="2619592" y="3272873"/>
            <a:ext cx="32004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Poppins" panose="00000500000000000000" pitchFamily="2" charset="0"/>
                <a:cs typeface="Poppins" panose="00000500000000000000" pitchFamily="2" charset="0"/>
              </a:rPr>
              <a:t>Gestor pospone la atención si no tiene el dato inmediato</a:t>
            </a:r>
          </a:p>
          <a:p>
            <a:r>
              <a:rPr lang="es-ES" sz="1200" dirty="0">
                <a:latin typeface="Poppins" panose="00000500000000000000" pitchFamily="2" charset="0"/>
                <a:cs typeface="Poppins" panose="00000500000000000000" pitchFamily="2" charset="0"/>
              </a:rPr>
              <a:t>(Ej. Esperar al lunes)</a:t>
            </a:r>
            <a:endParaRPr lang="es-PE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8CF1733-B40A-7F53-EBFB-7CBAEED1121D}"/>
              </a:ext>
            </a:extLst>
          </p:cNvPr>
          <p:cNvSpPr txBox="1"/>
          <p:nvPr/>
        </p:nvSpPr>
        <p:spPr>
          <a:xfrm>
            <a:off x="7264730" y="2564928"/>
            <a:ext cx="3052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Poppins" panose="00000500000000000000" pitchFamily="2" charset="0"/>
                <a:cs typeface="Poppins" panose="00000500000000000000" pitchFamily="2" charset="0"/>
              </a:rPr>
              <a:t>Información centralizada y disponible en tiempo real para cierre de acuerdos de pago inmediato.</a:t>
            </a:r>
            <a:endParaRPr lang="es-PE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64E86B19-7E65-D90F-903E-7A7676827645}"/>
              </a:ext>
            </a:extLst>
          </p:cNvPr>
          <p:cNvSpPr txBox="1"/>
          <p:nvPr/>
        </p:nvSpPr>
        <p:spPr>
          <a:xfrm>
            <a:off x="7264730" y="3255511"/>
            <a:ext cx="3052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Poppins" panose="00000500000000000000" pitchFamily="2" charset="0"/>
                <a:cs typeface="Poppins" panose="00000500000000000000" pitchFamily="2" charset="0"/>
              </a:rPr>
              <a:t>Resolución total en la llamada. Gestión de clientes Recovery, con datos precisos al instante.</a:t>
            </a:r>
            <a:endParaRPr lang="es-PE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AB2785FA-E91D-0F79-7252-A28E4574061E}"/>
              </a:ext>
            </a:extLst>
          </p:cNvPr>
          <p:cNvSpPr/>
          <p:nvPr/>
        </p:nvSpPr>
        <p:spPr>
          <a:xfrm>
            <a:off x="671837" y="4702956"/>
            <a:ext cx="1866973" cy="127440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rgbClr val="008F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es-PE" sz="1200" dirty="0">
              <a:solidFill>
                <a:srgbClr val="008F2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231130E9-2830-17BF-755B-85AA1EDB6537}"/>
              </a:ext>
            </a:extLst>
          </p:cNvPr>
          <p:cNvSpPr txBox="1"/>
          <p:nvPr/>
        </p:nvSpPr>
        <p:spPr>
          <a:xfrm>
            <a:off x="765511" y="4759878"/>
            <a:ext cx="1844055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>
                <a:solidFill>
                  <a:srgbClr val="003AA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Supervisor: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5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Visión global de cartera.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5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Asigna estrategias preventivas.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5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Analiza métricas y KPIs.</a:t>
            </a:r>
            <a:endParaRPr lang="es-PE" sz="1050" dirty="0">
              <a:solidFill>
                <a:schemeClr val="bg2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714D804B-F191-F549-C4E7-03A9EBE77FCC}"/>
              </a:ext>
            </a:extLst>
          </p:cNvPr>
          <p:cNvSpPr/>
          <p:nvPr/>
        </p:nvSpPr>
        <p:spPr>
          <a:xfrm>
            <a:off x="648928" y="6042331"/>
            <a:ext cx="10736223" cy="648185"/>
          </a:xfrm>
          <a:prstGeom prst="roundRect">
            <a:avLst/>
          </a:prstGeom>
          <a:solidFill>
            <a:srgbClr val="008F28"/>
          </a:solidFill>
          <a:ln>
            <a:solidFill>
              <a:srgbClr val="008F2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rgbClr val="008F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es-PE" sz="1200" dirty="0">
              <a:solidFill>
                <a:srgbClr val="008F2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A931F62D-6910-D870-B320-A96A179FDFA4}"/>
              </a:ext>
            </a:extLst>
          </p:cNvPr>
          <p:cNvSpPr txBox="1"/>
          <p:nvPr/>
        </p:nvSpPr>
        <p:spPr>
          <a:xfrm>
            <a:off x="1231188" y="6227923"/>
            <a:ext cx="16889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Impacto Clave</a:t>
            </a:r>
            <a:endParaRPr lang="es-PE" sz="1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5" name="Marcador de texto 1">
            <a:extLst>
              <a:ext uri="{FF2B5EF4-FFF2-40B4-BE49-F238E27FC236}">
                <a16:creationId xmlns:a16="http://schemas.microsoft.com/office/drawing/2014/main" id="{20A96A9A-BFC0-E060-0A04-AFA7228E5AA0}"/>
              </a:ext>
            </a:extLst>
          </p:cNvPr>
          <p:cNvSpPr txBox="1">
            <a:spLocks/>
          </p:cNvSpPr>
          <p:nvPr/>
        </p:nvSpPr>
        <p:spPr>
          <a:xfrm>
            <a:off x="602003" y="4193421"/>
            <a:ext cx="2171073" cy="4543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800" b="1" kern="1200">
                <a:solidFill>
                  <a:srgbClr val="00D03C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3AAC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Gestión de Cartera:</a:t>
            </a:r>
            <a:b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3AAC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</a:b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8F28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Usuarios y Procesos</a:t>
            </a:r>
            <a:endParaRPr kumimoji="0" lang="es-PE" sz="1400" b="1" i="0" u="none" strike="noStrike" kern="1200" cap="none" spc="0" normalizeH="0" baseline="0" noProof="0" dirty="0">
              <a:ln>
                <a:noFill/>
              </a:ln>
              <a:solidFill>
                <a:srgbClr val="008F28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ACE4957F-0A58-B22A-2A52-DC39E406B6DC}"/>
              </a:ext>
            </a:extLst>
          </p:cNvPr>
          <p:cNvSpPr txBox="1"/>
          <p:nvPr/>
        </p:nvSpPr>
        <p:spPr>
          <a:xfrm>
            <a:off x="3240806" y="6038526"/>
            <a:ext cx="1256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Reducción de tiempos de atención</a:t>
            </a:r>
            <a:endParaRPr lang="es-PE" sz="1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ACE59C1C-C843-19A4-5BD1-E5CA9D055520}"/>
              </a:ext>
            </a:extLst>
          </p:cNvPr>
          <p:cNvSpPr txBox="1"/>
          <p:nvPr/>
        </p:nvSpPr>
        <p:spPr>
          <a:xfrm>
            <a:off x="5070468" y="6058204"/>
            <a:ext cx="1688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Mayor efectividad en cierre de acuerdos</a:t>
            </a:r>
            <a:endParaRPr lang="es-PE" sz="1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A2E5B36-A170-E54A-561F-2E041573415D}"/>
              </a:ext>
            </a:extLst>
          </p:cNvPr>
          <p:cNvSpPr txBox="1"/>
          <p:nvPr/>
        </p:nvSpPr>
        <p:spPr>
          <a:xfrm>
            <a:off x="7274534" y="6058203"/>
            <a:ext cx="1688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Información confiable para mejores decisiones</a:t>
            </a:r>
            <a:endParaRPr lang="es-PE" sz="1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5E4DBFF8-F40C-3978-74CB-7A728B940C9A}"/>
              </a:ext>
            </a:extLst>
          </p:cNvPr>
          <p:cNvSpPr txBox="1"/>
          <p:nvPr/>
        </p:nvSpPr>
        <p:spPr>
          <a:xfrm>
            <a:off x="9816001" y="6135591"/>
            <a:ext cx="1569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Mejor experiencia para el cliente.</a:t>
            </a:r>
            <a:endParaRPr lang="es-PE" sz="1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5" name="Gráfico 64" descr="Cilindro con relleno sólido">
            <a:extLst>
              <a:ext uri="{FF2B5EF4-FFF2-40B4-BE49-F238E27FC236}">
                <a16:creationId xmlns:a16="http://schemas.microsoft.com/office/drawing/2014/main" id="{3C74B951-2667-9D76-D48C-2DF0039D92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8903" y="2655013"/>
            <a:ext cx="540000" cy="540000"/>
          </a:xfrm>
          <a:prstGeom prst="rect">
            <a:avLst/>
          </a:prstGeom>
        </p:spPr>
      </p:pic>
      <p:pic>
        <p:nvPicPr>
          <p:cNvPr id="67" name="Gráfico 66" descr="Portátil con relleno sólido">
            <a:extLst>
              <a:ext uri="{FF2B5EF4-FFF2-40B4-BE49-F238E27FC236}">
                <a16:creationId xmlns:a16="http://schemas.microsoft.com/office/drawing/2014/main" id="{3A11D601-5AEB-22D3-8C5E-5DAE62C938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81485" y="2654173"/>
            <a:ext cx="540000" cy="540000"/>
          </a:xfrm>
          <a:prstGeom prst="rect">
            <a:avLst/>
          </a:prstGeom>
        </p:spPr>
      </p:pic>
      <p:pic>
        <p:nvPicPr>
          <p:cNvPr id="69" name="Gráfico 68" descr="Carpeta abierta con relleno sólido">
            <a:extLst>
              <a:ext uri="{FF2B5EF4-FFF2-40B4-BE49-F238E27FC236}">
                <a16:creationId xmlns:a16="http://schemas.microsoft.com/office/drawing/2014/main" id="{B6262751-8E69-B50F-1EC9-D5483B33BD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63238" y="4909597"/>
            <a:ext cx="540000" cy="540000"/>
          </a:xfrm>
          <a:prstGeom prst="rect">
            <a:avLst/>
          </a:prstGeom>
        </p:spPr>
      </p:pic>
      <p:pic>
        <p:nvPicPr>
          <p:cNvPr id="71" name="Gráfico 70" descr="Lupa con relleno sólido">
            <a:extLst>
              <a:ext uri="{FF2B5EF4-FFF2-40B4-BE49-F238E27FC236}">
                <a16:creationId xmlns:a16="http://schemas.microsoft.com/office/drawing/2014/main" id="{0ADBBCB7-2D64-DE62-86BF-803B22285C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49395" y="4958738"/>
            <a:ext cx="540000" cy="540000"/>
          </a:xfrm>
          <a:prstGeom prst="rect">
            <a:avLst/>
          </a:prstGeom>
        </p:spPr>
      </p:pic>
      <p:pic>
        <p:nvPicPr>
          <p:cNvPr id="73" name="Gráfico 72" descr="Engranaje único con relleno sólido">
            <a:extLst>
              <a:ext uri="{FF2B5EF4-FFF2-40B4-BE49-F238E27FC236}">
                <a16:creationId xmlns:a16="http://schemas.microsoft.com/office/drawing/2014/main" id="{6760DAD1-5622-4364-6D70-6D37A02B44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79466" y="4951870"/>
            <a:ext cx="540000" cy="540000"/>
          </a:xfrm>
          <a:prstGeom prst="rect">
            <a:avLst/>
          </a:prstGeom>
        </p:spPr>
      </p:pic>
      <p:pic>
        <p:nvPicPr>
          <p:cNvPr id="75" name="Gráfico 74" descr="Diana con relleno sólido">
            <a:extLst>
              <a:ext uri="{FF2B5EF4-FFF2-40B4-BE49-F238E27FC236}">
                <a16:creationId xmlns:a16="http://schemas.microsoft.com/office/drawing/2014/main" id="{FFD8F020-C0B2-4FA7-8C36-9F23E7FF66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7058" y="6150424"/>
            <a:ext cx="432000" cy="432000"/>
          </a:xfrm>
          <a:prstGeom prst="rect">
            <a:avLst/>
          </a:prstGeom>
        </p:spPr>
      </p:pic>
      <p:pic>
        <p:nvPicPr>
          <p:cNvPr id="77" name="Gráfico 76" descr="Centro de llamadas con relleno sólido">
            <a:extLst>
              <a:ext uri="{FF2B5EF4-FFF2-40B4-BE49-F238E27FC236}">
                <a16:creationId xmlns:a16="http://schemas.microsoft.com/office/drawing/2014/main" id="{EF68BA5B-0265-D1A0-8378-5ED57310BF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9657" y="3205957"/>
            <a:ext cx="540000" cy="540000"/>
          </a:xfrm>
          <a:prstGeom prst="rect">
            <a:avLst/>
          </a:prstGeom>
        </p:spPr>
      </p:pic>
      <p:pic>
        <p:nvPicPr>
          <p:cNvPr id="79" name="Gráfico 78" descr="Objetivo con relleno sólido">
            <a:extLst>
              <a:ext uri="{FF2B5EF4-FFF2-40B4-BE49-F238E27FC236}">
                <a16:creationId xmlns:a16="http://schemas.microsoft.com/office/drawing/2014/main" id="{39E726B7-BA0B-CE9C-8775-D3A5F0922B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7559" y="6135591"/>
            <a:ext cx="432000" cy="432000"/>
          </a:xfrm>
          <a:prstGeom prst="rect">
            <a:avLst/>
          </a:prstGeom>
        </p:spPr>
      </p:pic>
      <p:pic>
        <p:nvPicPr>
          <p:cNvPr id="83" name="Gráfico 82" descr="Estrella con relleno sólido">
            <a:extLst>
              <a:ext uri="{FF2B5EF4-FFF2-40B4-BE49-F238E27FC236}">
                <a16:creationId xmlns:a16="http://schemas.microsoft.com/office/drawing/2014/main" id="{D0497E49-4688-6B29-D2C0-090B41A5C5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68046" y="6095816"/>
            <a:ext cx="432000" cy="432000"/>
          </a:xfrm>
          <a:prstGeom prst="rect">
            <a:avLst/>
          </a:prstGeom>
        </p:spPr>
      </p:pic>
      <p:pic>
        <p:nvPicPr>
          <p:cNvPr id="85" name="Gráfico 84" descr="Reloj con relleno sólido">
            <a:extLst>
              <a:ext uri="{FF2B5EF4-FFF2-40B4-BE49-F238E27FC236}">
                <a16:creationId xmlns:a16="http://schemas.microsoft.com/office/drawing/2014/main" id="{7B1DB629-3007-26A6-2547-1AB8E33FF5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47177" y="6165369"/>
            <a:ext cx="432000" cy="432000"/>
          </a:xfrm>
          <a:prstGeom prst="rect">
            <a:avLst/>
          </a:prstGeom>
        </p:spPr>
      </p:pic>
      <p:sp>
        <p:nvSpPr>
          <p:cNvPr id="87" name="Rectángulo: esquinas redondeadas 86">
            <a:extLst>
              <a:ext uri="{FF2B5EF4-FFF2-40B4-BE49-F238E27FC236}">
                <a16:creationId xmlns:a16="http://schemas.microsoft.com/office/drawing/2014/main" id="{07ECBEAB-6FF0-4D61-194F-F31F8FFD5F44}"/>
              </a:ext>
            </a:extLst>
          </p:cNvPr>
          <p:cNvSpPr/>
          <p:nvPr/>
        </p:nvSpPr>
        <p:spPr>
          <a:xfrm>
            <a:off x="2679402" y="4693258"/>
            <a:ext cx="1866973" cy="127440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rgbClr val="008F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es-PE" sz="1200" dirty="0">
              <a:solidFill>
                <a:srgbClr val="008F2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5CA2B654-9083-887E-A022-431F82E0EBED}"/>
              </a:ext>
            </a:extLst>
          </p:cNvPr>
          <p:cNvSpPr txBox="1"/>
          <p:nvPr/>
        </p:nvSpPr>
        <p:spPr>
          <a:xfrm>
            <a:off x="2773076" y="4750180"/>
            <a:ext cx="1844055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>
                <a:solidFill>
                  <a:srgbClr val="003AA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Asesor: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5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Acción directa y reactiva.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5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Ejecuta cobranza estructurada.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5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Registro de promesa de pago.</a:t>
            </a:r>
            <a:endParaRPr lang="es-PE" sz="1050" dirty="0">
              <a:solidFill>
                <a:schemeClr val="bg2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91" name="Conector recto 90">
            <a:extLst>
              <a:ext uri="{FF2B5EF4-FFF2-40B4-BE49-F238E27FC236}">
                <a16:creationId xmlns:a16="http://schemas.microsoft.com/office/drawing/2014/main" id="{E48F5A81-5773-5C14-A385-D5C997B66BF7}"/>
              </a:ext>
            </a:extLst>
          </p:cNvPr>
          <p:cNvCxnSpPr/>
          <p:nvPr/>
        </p:nvCxnSpPr>
        <p:spPr>
          <a:xfrm>
            <a:off x="4853058" y="4480651"/>
            <a:ext cx="0" cy="1326379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3" name="Marcador de texto 1">
            <a:extLst>
              <a:ext uri="{FF2B5EF4-FFF2-40B4-BE49-F238E27FC236}">
                <a16:creationId xmlns:a16="http://schemas.microsoft.com/office/drawing/2014/main" id="{A3892219-8A1D-EE1E-95D0-A9CC8D270AB7}"/>
              </a:ext>
            </a:extLst>
          </p:cNvPr>
          <p:cNvSpPr txBox="1">
            <a:spLocks/>
          </p:cNvSpPr>
          <p:nvPr/>
        </p:nvSpPr>
        <p:spPr>
          <a:xfrm>
            <a:off x="5165792" y="4349617"/>
            <a:ext cx="2981473" cy="2781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800" b="1" kern="1200">
                <a:solidFill>
                  <a:srgbClr val="00D03C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 sz="1400" dirty="0">
                <a:solidFill>
                  <a:srgbClr val="003AAC"/>
                </a:solidFill>
              </a:rPr>
              <a:t>Flujo de Tres Etapas:</a:t>
            </a:r>
            <a:endParaRPr kumimoji="0" lang="es-PE" sz="1400" b="1" i="0" u="none" strike="noStrike" kern="1200" cap="none" spc="0" normalizeH="0" baseline="0" noProof="0" dirty="0">
              <a:ln>
                <a:noFill/>
              </a:ln>
              <a:solidFill>
                <a:srgbClr val="008F28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99" name="CuadroTexto 98">
            <a:extLst>
              <a:ext uri="{FF2B5EF4-FFF2-40B4-BE49-F238E27FC236}">
                <a16:creationId xmlns:a16="http://schemas.microsoft.com/office/drawing/2014/main" id="{8762574C-0B99-E07D-57A5-A5FBD65CEBEA}"/>
              </a:ext>
            </a:extLst>
          </p:cNvPr>
          <p:cNvSpPr txBox="1"/>
          <p:nvPr/>
        </p:nvSpPr>
        <p:spPr>
          <a:xfrm>
            <a:off x="5946333" y="4985647"/>
            <a:ext cx="1333133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>
                <a:solidFill>
                  <a:srgbClr val="003AA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Nodo 1:</a:t>
            </a:r>
            <a:br>
              <a:rPr lang="es-ES" sz="1050" b="1" dirty="0">
                <a:solidFill>
                  <a:srgbClr val="003AAC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050" b="1" dirty="0">
                <a:solidFill>
                  <a:srgbClr val="003AA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Ingesta</a:t>
            </a:r>
            <a:endParaRPr lang="es-ES" sz="1050" dirty="0">
              <a:solidFill>
                <a:schemeClr val="bg2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sz="105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Captura datos de múltiples fuentes.</a:t>
            </a:r>
            <a:endParaRPr lang="es-PE" sz="1050" dirty="0">
              <a:solidFill>
                <a:schemeClr val="bg2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10E7352D-52D5-750E-BD3E-F9D12A0B3A04}"/>
              </a:ext>
            </a:extLst>
          </p:cNvPr>
          <p:cNvSpPr txBox="1"/>
          <p:nvPr/>
        </p:nvSpPr>
        <p:spPr>
          <a:xfrm>
            <a:off x="7794409" y="4979385"/>
            <a:ext cx="1624515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>
                <a:solidFill>
                  <a:srgbClr val="003AA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Nodo 2:</a:t>
            </a:r>
            <a:br>
              <a:rPr lang="es-ES" sz="1050" b="1" dirty="0">
                <a:solidFill>
                  <a:srgbClr val="003AAC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050" b="1" dirty="0">
                <a:solidFill>
                  <a:srgbClr val="003AA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Procesamiento</a:t>
            </a:r>
            <a:endParaRPr lang="es-ES" sz="1050" dirty="0">
              <a:solidFill>
                <a:schemeClr val="bg2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sz="105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Limpieza, anotación y estructuración relacional.</a:t>
            </a:r>
            <a:endParaRPr lang="es-PE" sz="1050" dirty="0">
              <a:solidFill>
                <a:schemeClr val="bg2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9F53CF73-EC95-3F80-27FE-0E8579C3D37F}"/>
              </a:ext>
            </a:extLst>
          </p:cNvPr>
          <p:cNvSpPr txBox="1"/>
          <p:nvPr/>
        </p:nvSpPr>
        <p:spPr>
          <a:xfrm>
            <a:off x="9933867" y="4956106"/>
            <a:ext cx="1333133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>
                <a:solidFill>
                  <a:srgbClr val="003AA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Nodo 3:</a:t>
            </a:r>
            <a:br>
              <a:rPr lang="es-ES" sz="1050" b="1" dirty="0">
                <a:solidFill>
                  <a:srgbClr val="003AAC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050" b="1" dirty="0">
                <a:solidFill>
                  <a:srgbClr val="003AA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Consulta</a:t>
            </a:r>
            <a:endParaRPr lang="es-ES" sz="1050" dirty="0">
              <a:solidFill>
                <a:schemeClr val="bg2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sz="105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Indexación para acceso rápido visual.</a:t>
            </a:r>
            <a:endParaRPr lang="es-PE" sz="1050" dirty="0">
              <a:solidFill>
                <a:schemeClr val="bg2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106" name="Conector recto de flecha 105">
            <a:extLst>
              <a:ext uri="{FF2B5EF4-FFF2-40B4-BE49-F238E27FC236}">
                <a16:creationId xmlns:a16="http://schemas.microsoft.com/office/drawing/2014/main" id="{3FB63EFB-D719-ABF4-28E6-D6AD5377536D}"/>
              </a:ext>
            </a:extLst>
          </p:cNvPr>
          <p:cNvCxnSpPr>
            <a:cxnSpLocks/>
          </p:cNvCxnSpPr>
          <p:nvPr/>
        </p:nvCxnSpPr>
        <p:spPr>
          <a:xfrm flipV="1">
            <a:off x="5159636" y="4689604"/>
            <a:ext cx="6225515" cy="4213"/>
          </a:xfrm>
          <a:prstGeom prst="straightConnector1">
            <a:avLst/>
          </a:prstGeom>
          <a:ln w="38100">
            <a:solidFill>
              <a:srgbClr val="008F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7" name="Gráfico 116" descr="Reloj con relleno sólido">
            <a:extLst>
              <a:ext uri="{FF2B5EF4-FFF2-40B4-BE49-F238E27FC236}">
                <a16:creationId xmlns:a16="http://schemas.microsoft.com/office/drawing/2014/main" id="{D8CB740C-4726-6899-BCED-8B5BF24DEE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35485" y="3380038"/>
            <a:ext cx="432000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633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7722989"/>
            <a:ext cx="112395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875829"/>
            <a:ext cx="3353700" cy="4982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98901" y="1875829"/>
            <a:ext cx="3456570" cy="4982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7736" y="1821498"/>
            <a:ext cx="3618013" cy="5055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2475" y="3371254"/>
            <a:ext cx="30416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75125" y="3371254"/>
            <a:ext cx="30416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75125" y="4438054"/>
            <a:ext cx="975717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607992" y="4438054"/>
            <a:ext cx="975717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40859" y="4438054"/>
            <a:ext cx="975866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97775" y="3371254"/>
            <a:ext cx="3041749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476250" y="7875389"/>
            <a:ext cx="2581275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7" b="1" i="0" u="none" strike="noStrike" cap="none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Interbank </a:t>
            </a:r>
            <a:r>
              <a:rPr lang="en-US" sz="997" b="1" i="0" u="none" strike="noStrike" cap="none">
                <a:solidFill>
                  <a:srgbClr val="05BE50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en-US" sz="997" b="1" i="0" u="none" strike="noStrike" cap="none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 Comité de Dirección 2026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3638550" y="7875389"/>
            <a:ext cx="80772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7" b="0" i="0" u="none" strike="noStrike" cap="none">
                <a:solidFill>
                  <a:srgbClr val="54545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*Retorno Anual Estimado Directo (Tarde + Sábados): </a:t>
            </a:r>
            <a:r>
              <a:rPr lang="en-US" sz="997" b="1" i="0" u="none" strike="noStrike" cap="none">
                <a:solidFill>
                  <a:srgbClr val="05BE50"/>
                </a:solidFill>
                <a:latin typeface="Poppins"/>
                <a:ea typeface="Poppins"/>
                <a:cs typeface="Poppins"/>
                <a:sym typeface="Poppins"/>
              </a:rPr>
              <a:t>S/ 16,260</a:t>
            </a:r>
            <a:r>
              <a:rPr lang="en-US" sz="997" b="0" i="0" u="none" strike="noStrike" cap="none">
                <a:solidFill>
                  <a:srgbClr val="54545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| Reducción de sobrecarga operativa anualizada: </a:t>
            </a:r>
            <a:r>
              <a:rPr lang="en-US" sz="997" b="1" i="0" u="none" strike="noStrike" cap="none">
                <a:solidFill>
                  <a:srgbClr val="05BE50"/>
                </a:solidFill>
                <a:latin typeface="Poppins"/>
                <a:ea typeface="Poppins"/>
                <a:cs typeface="Poppins"/>
                <a:sym typeface="Poppins"/>
              </a:rPr>
              <a:t>888 horas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476250" y="428625"/>
            <a:ext cx="9001125" cy="932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5" b="0" i="0" u="none" strike="noStrike" cap="none">
                <a:solidFill>
                  <a:srgbClr val="1F3A8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Recuperación de Ingresos e Inversión de Tiempo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657225" y="1418629"/>
            <a:ext cx="83915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54545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"No estamos perdiendo llamadas, estamos </a:t>
            </a:r>
            <a:r>
              <a:rPr lang="en-US" sz="1125" b="1" i="0" u="none" strike="noStrike" cap="none">
                <a:solidFill>
                  <a:srgbClr val="05BE50"/>
                </a:solidFill>
                <a:latin typeface="Poppins"/>
                <a:ea typeface="Poppins"/>
                <a:cs typeface="Poppins"/>
                <a:sym typeface="Poppins"/>
              </a:rPr>
              <a:t>perdiendo el momento exacto</a:t>
            </a:r>
            <a:r>
              <a:rPr lang="en-US" sz="1125" b="0" i="0" u="none" strike="noStrike" cap="none">
                <a:solidFill>
                  <a:srgbClr val="54545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en que el cliente quiere pagar"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10539412" y="509587"/>
            <a:ext cx="209550" cy="209550"/>
          </a:xfrm>
          <a:prstGeom prst="roundRect">
            <a:avLst>
              <a:gd name="adj" fmla="val 13636"/>
            </a:avLst>
          </a:prstGeom>
          <a:solidFill>
            <a:srgbClr val="05BE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10825162" y="476250"/>
            <a:ext cx="8905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Interbank</a:t>
            </a:r>
            <a:endParaRPr/>
          </a:p>
        </p:txBody>
      </p:sp>
      <p:pic>
        <p:nvPicPr>
          <p:cNvPr id="100" name="Google Shape;100;p1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76250" y="1456729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52475" y="2485429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3"/>
          <p:cNvSpPr txBox="1"/>
          <p:nvPr/>
        </p:nvSpPr>
        <p:spPr>
          <a:xfrm>
            <a:off x="981075" y="2113954"/>
            <a:ext cx="29536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6" b="1" i="0" u="none" strike="noStrike" cap="none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1. Inversión de Tiempo CJ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752475" y="4390429"/>
            <a:ext cx="30416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Llamadas Inbound Totales: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i="0" u="none" strike="noStrike" cap="none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11,269</a:t>
            </a:r>
            <a:endParaRPr/>
          </a:p>
        </p:txBody>
      </p:sp>
      <p:sp>
        <p:nvSpPr>
          <p:cNvPr id="104" name="Google Shape;104;p13"/>
          <p:cNvSpPr/>
          <p:nvPr/>
        </p:nvSpPr>
        <p:spPr>
          <a:xfrm>
            <a:off x="752475" y="4685704"/>
            <a:ext cx="3041600" cy="9525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752475" y="4809529"/>
            <a:ext cx="30416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Llamadas CJ (20%):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i="0" u="none" strike="noStrike" cap="none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2,219</a:t>
            </a:r>
            <a:endParaRPr/>
          </a:p>
        </p:txBody>
      </p:sp>
      <p:sp>
        <p:nvSpPr>
          <p:cNvPr id="106" name="Google Shape;106;p13"/>
          <p:cNvSpPr/>
          <p:nvPr/>
        </p:nvSpPr>
        <p:spPr>
          <a:xfrm>
            <a:off x="752475" y="5104804"/>
            <a:ext cx="3041600" cy="9525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752475" y="5228629"/>
            <a:ext cx="3041600" cy="66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sz="1200" b="1" i="0" u="none" strike="noStrike" cap="none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Duración Promedio:</a:t>
            </a:r>
            <a:r>
              <a:rPr lang="en-US" sz="1200" b="0" i="0" u="none" strike="noStrike" cap="non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Cada llamada CJ dura </a:t>
            </a:r>
            <a:r>
              <a:rPr lang="en-US" sz="1200" b="1" i="0" u="none" strike="noStrike" cap="non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10m 16s</a:t>
            </a:r>
            <a:r>
              <a:rPr lang="en-US" sz="1200" b="0" i="0" u="none" strike="noStrike" cap="non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, acumulando 380 horas de interacción mensuales.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752475" y="6005512"/>
            <a:ext cx="3041600" cy="66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sz="1200" b="1" i="0" u="none" strike="noStrike" cap="none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Fricción Crítica:</a:t>
            </a:r>
            <a:r>
              <a:rPr lang="en-US" sz="1200" b="0" i="0" u="none" strike="noStrike" cap="non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44 clientes/mes llaman post 5:30 p.m. y fines de semana sin soporte de especialistas.</a:t>
            </a:r>
            <a:endParaRPr/>
          </a:p>
        </p:txBody>
      </p:sp>
      <p:pic>
        <p:nvPicPr>
          <p:cNvPr id="109" name="Google Shape;109;p1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575125" y="2485429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 txBox="1"/>
          <p:nvPr/>
        </p:nvSpPr>
        <p:spPr>
          <a:xfrm>
            <a:off x="4841825" y="2113954"/>
            <a:ext cx="291364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6" b="1" i="0" u="none" strike="noStrike" cap="none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2. Fórmula de Conversión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4575125" y="4876204"/>
            <a:ext cx="3041600" cy="490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sz="1100" b="1" i="0" u="none" strike="noStrike" cap="none" dirty="0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86 </a:t>
            </a:r>
            <a:r>
              <a:rPr lang="en-US" sz="1100" b="1" i="0" u="none" strike="noStrike" cap="none" dirty="0" err="1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oportunidades</a:t>
            </a:r>
            <a:r>
              <a:rPr lang="en-US" sz="1100" b="1" i="0" u="none" strike="noStrike" cap="none" dirty="0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1" i="0" u="none" strike="noStrike" cap="none" dirty="0" err="1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mensuales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con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alta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intención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que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hoy se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enfrían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pierden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 dirty="0"/>
          </a:p>
        </p:txBody>
      </p:sp>
      <p:sp>
        <p:nvSpPr>
          <p:cNvPr id="112" name="Google Shape;112;p13"/>
          <p:cNvSpPr txBox="1"/>
          <p:nvPr/>
        </p:nvSpPr>
        <p:spPr>
          <a:xfrm>
            <a:off x="4551312" y="5387054"/>
            <a:ext cx="3041600" cy="73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sz="1100" b="1" i="0" u="none" strike="noStrike" cap="none" dirty="0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30 </a:t>
            </a:r>
            <a:r>
              <a:rPr lang="en-US" sz="1100" b="1" i="0" u="none" strike="noStrike" cap="none" dirty="0" err="1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acuerdos</a:t>
            </a:r>
            <a:r>
              <a:rPr lang="en-US" sz="1100" b="1" i="0" u="none" strike="noStrike" cap="none" dirty="0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1" i="0" u="none" strike="noStrike" cap="none" dirty="0" err="1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mensuales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cerrados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el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contacto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"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caliente" (35% de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conversión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efectiva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1100" dirty="0"/>
          </a:p>
        </p:txBody>
      </p:sp>
      <p:sp>
        <p:nvSpPr>
          <p:cNvPr id="113" name="Google Shape;113;p13"/>
          <p:cNvSpPr txBox="1"/>
          <p:nvPr/>
        </p:nvSpPr>
        <p:spPr>
          <a:xfrm>
            <a:off x="4551312" y="6123409"/>
            <a:ext cx="3041600" cy="73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sz="1100" b="1" i="0" u="none" strike="noStrike" cap="none" dirty="0">
                <a:solidFill>
                  <a:srgbClr val="05BE50"/>
                </a:solidFill>
                <a:latin typeface="Poppins"/>
                <a:ea typeface="Poppins"/>
                <a:cs typeface="Poppins"/>
                <a:sym typeface="Poppins"/>
              </a:rPr>
              <a:t>S/ 1,355 al </a:t>
            </a:r>
            <a:r>
              <a:rPr lang="en-US" sz="1100" b="1" i="0" u="none" strike="noStrike" cap="none" dirty="0" err="1">
                <a:solidFill>
                  <a:srgbClr val="05BE50"/>
                </a:solidFill>
                <a:latin typeface="Poppins"/>
                <a:ea typeface="Poppins"/>
                <a:cs typeface="Poppins"/>
                <a:sym typeface="Poppins"/>
              </a:rPr>
              <a:t>mes</a:t>
            </a:r>
            <a:r>
              <a:rPr lang="en-US" sz="1100" b="1" i="0" u="none" strike="noStrike" cap="none" dirty="0">
                <a:solidFill>
                  <a:srgbClr val="05BE5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Deuda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directa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recuperada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sin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dilaciones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(ticket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promedio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conservador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S/ 300).</a:t>
            </a:r>
            <a:endParaRPr sz="1100" dirty="0"/>
          </a:p>
        </p:txBody>
      </p:sp>
      <p:pic>
        <p:nvPicPr>
          <p:cNvPr id="114" name="Google Shape;114;p13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397775" y="2485429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3"/>
          <p:cNvSpPr txBox="1"/>
          <p:nvPr/>
        </p:nvSpPr>
        <p:spPr>
          <a:xfrm>
            <a:off x="8645425" y="2113954"/>
            <a:ext cx="293380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6" b="1" i="0" u="none" strike="noStrike" cap="none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3. Eficiencia y Ahorro</a:t>
            </a:r>
            <a:endParaRPr/>
          </a:p>
        </p:txBody>
      </p:sp>
      <p:sp>
        <p:nvSpPr>
          <p:cNvPr id="116" name="Google Shape;116;p13"/>
          <p:cNvSpPr txBox="1"/>
          <p:nvPr/>
        </p:nvSpPr>
        <p:spPr>
          <a:xfrm>
            <a:off x="8397775" y="4390429"/>
            <a:ext cx="3041749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Pérdida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por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transferencia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1" i="0" u="none" strike="noStrike" cap="none" dirty="0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2m / </a:t>
            </a:r>
            <a:r>
              <a:rPr lang="en-US" sz="1100" b="1" i="0" u="none" strike="noStrike" cap="none" dirty="0" err="1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llamada</a:t>
            </a:r>
            <a:endParaRPr sz="1100" dirty="0"/>
          </a:p>
        </p:txBody>
      </p:sp>
      <p:sp>
        <p:nvSpPr>
          <p:cNvPr id="117" name="Google Shape;117;p13"/>
          <p:cNvSpPr/>
          <p:nvPr/>
        </p:nvSpPr>
        <p:spPr>
          <a:xfrm>
            <a:off x="8397775" y="4685704"/>
            <a:ext cx="3041749" cy="9525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8373962" y="4753478"/>
            <a:ext cx="3041749" cy="73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sz="1100" b="1" i="0" u="none" strike="noStrike" cap="none" dirty="0" err="1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Eliminación</a:t>
            </a:r>
            <a:r>
              <a:rPr lang="en-US" sz="1100" b="1" i="0" u="none" strike="noStrike" cap="none" dirty="0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 del </a:t>
            </a:r>
            <a:r>
              <a:rPr lang="en-US" sz="1100" b="1" i="0" u="none" strike="noStrike" cap="none" dirty="0" err="1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desvío</a:t>
            </a:r>
            <a:r>
              <a:rPr lang="en-US" sz="1100" b="1" i="0" u="none" strike="noStrike" cap="none" dirty="0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Cualquier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asesor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resuelve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directamente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el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caso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sin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derivar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especialista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 dirty="0"/>
          </a:p>
        </p:txBody>
      </p:sp>
      <p:sp>
        <p:nvSpPr>
          <p:cNvPr id="119" name="Google Shape;119;p13"/>
          <p:cNvSpPr txBox="1"/>
          <p:nvPr/>
        </p:nvSpPr>
        <p:spPr>
          <a:xfrm>
            <a:off x="8373962" y="5447110"/>
            <a:ext cx="3317974" cy="73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sz="1100" b="1" i="0" u="none" strike="noStrike" cap="none" dirty="0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74 horas/</a:t>
            </a:r>
            <a:r>
              <a:rPr lang="en-US" sz="1100" b="1" i="0" u="none" strike="noStrike" cap="none" dirty="0" err="1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mes</a:t>
            </a:r>
            <a:r>
              <a:rPr lang="en-US" sz="1100" b="1" i="0" u="none" strike="noStrike" cap="none" dirty="0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1" i="0" u="none" strike="noStrike" cap="none" dirty="0" err="1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ahorradas</a:t>
            </a:r>
            <a:r>
              <a:rPr lang="en-US" sz="1100" b="1" i="0" u="none" strike="noStrike" cap="none" dirty="0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Tiempo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neto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liberado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para la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operación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al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agilizar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2,219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interacciones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 dirty="0"/>
          </a:p>
        </p:txBody>
      </p:sp>
      <p:sp>
        <p:nvSpPr>
          <p:cNvPr id="120" name="Google Shape;120;p13"/>
          <p:cNvSpPr txBox="1"/>
          <p:nvPr/>
        </p:nvSpPr>
        <p:spPr>
          <a:xfrm>
            <a:off x="8373962" y="6140742"/>
            <a:ext cx="3205267" cy="73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sz="1100" b="1" i="0" u="none" strike="noStrike" cap="none" dirty="0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100% </a:t>
            </a:r>
            <a:r>
              <a:rPr lang="en-US" sz="1100" b="1" i="0" u="none" strike="noStrike" cap="none" dirty="0" err="1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Resolución</a:t>
            </a:r>
            <a:r>
              <a:rPr lang="en-US" sz="1100" b="1" i="0" u="none" strike="noStrike" cap="none" dirty="0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1" i="0" u="none" strike="noStrike" cap="none" dirty="0" err="1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1100" b="1" i="0" u="none" strike="noStrike" cap="none" dirty="0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 caliente: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Se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consolida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respuesta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primer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contacto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reduciendo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la doble </a:t>
            </a:r>
            <a:r>
              <a:rPr lang="en-US" sz="1100" b="0" i="0" u="none" strike="noStrike" cap="none" dirty="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validación</a:t>
            </a:r>
            <a:r>
              <a:rPr lang="en-US" sz="1100" b="0" i="0" u="none" strike="noStrike" cap="none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9B8DD-43B9-21E6-F7B8-0D30B418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EB6DFC56-2D89-83FC-B25D-E9895BE60159}"/>
              </a:ext>
            </a:extLst>
          </p:cNvPr>
          <p:cNvSpPr txBox="1">
            <a:spLocks/>
          </p:cNvSpPr>
          <p:nvPr/>
        </p:nvSpPr>
        <p:spPr>
          <a:xfrm>
            <a:off x="369686" y="491576"/>
            <a:ext cx="10366864" cy="700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800" b="1" kern="1200">
                <a:solidFill>
                  <a:srgbClr val="00D03C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4000" b="1" i="0" u="none" strike="noStrike" kern="1200" cap="none" spc="0" normalizeH="0" baseline="0" noProof="0" dirty="0">
                <a:ln>
                  <a:noFill/>
                </a:ln>
                <a:solidFill>
                  <a:srgbClr val="003AAC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Vista Supervisor</a:t>
            </a:r>
            <a:endParaRPr kumimoji="0" lang="es-PE" sz="4000" b="1" i="0" u="none" strike="noStrike" kern="1200" cap="none" spc="0" normalizeH="0" baseline="0" noProof="0" dirty="0">
              <a:ln>
                <a:noFill/>
              </a:ln>
              <a:solidFill>
                <a:srgbClr val="003AAC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7C6D79B-534A-E847-FB5D-D96B8DF64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527" y="1312607"/>
            <a:ext cx="10668945" cy="481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602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B0054-0724-9B54-E828-D35167F3D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BFEC37A5-AF5E-1C4B-BFE8-802F4BE0245C}"/>
              </a:ext>
            </a:extLst>
          </p:cNvPr>
          <p:cNvSpPr txBox="1">
            <a:spLocks/>
          </p:cNvSpPr>
          <p:nvPr/>
        </p:nvSpPr>
        <p:spPr>
          <a:xfrm>
            <a:off x="369686" y="491576"/>
            <a:ext cx="10366864" cy="700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800" b="1" kern="1200">
                <a:solidFill>
                  <a:srgbClr val="00D03C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4000" b="1" i="0" u="none" strike="noStrike" kern="1200" cap="none" spc="0" normalizeH="0" baseline="0" noProof="0" dirty="0">
                <a:ln>
                  <a:noFill/>
                </a:ln>
                <a:solidFill>
                  <a:srgbClr val="003AAC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Vista Agente</a:t>
            </a:r>
            <a:endParaRPr kumimoji="0" lang="es-PE" sz="4000" b="1" i="0" u="none" strike="noStrike" kern="1200" cap="none" spc="0" normalizeH="0" baseline="0" noProof="0" dirty="0">
              <a:ln>
                <a:noFill/>
              </a:ln>
              <a:solidFill>
                <a:srgbClr val="003AAC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9A7CE64-3FE3-A01D-4012-DD3091EFB1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71" y="1663264"/>
            <a:ext cx="11210094" cy="407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907135"/>
      </p:ext>
    </p:extLst>
  </p:cSld>
  <p:clrMapOvr>
    <a:masterClrMapping/>
  </p:clrMapOvr>
</p:sld>
</file>

<file path=ppt/theme/theme1.xml><?xml version="1.0" encoding="utf-8"?>
<a:theme xmlns:a="http://schemas.openxmlformats.org/drawingml/2006/main" name="Títulos y subtítulo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erpos de text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Diseños en blanc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exto con imágene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Frase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83ea3cd-2430-49d9-a1b1-736257ecbc0e" xsi:nil="true"/>
    <lcf76f155ced4ddcb4097134ff3c332f xmlns="219fc5de-6bf9-4326-8648-86da989b17b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E3BDDDD6B6791429152AAD099BD252E" ma:contentTypeVersion="17" ma:contentTypeDescription="Crear nuevo documento." ma:contentTypeScope="" ma:versionID="92927a04e2c7c8e07f4ee0e6112255e4">
  <xsd:schema xmlns:xsd="http://www.w3.org/2001/XMLSchema" xmlns:xs="http://www.w3.org/2001/XMLSchema" xmlns:p="http://schemas.microsoft.com/office/2006/metadata/properties" xmlns:ns2="219fc5de-6bf9-4326-8648-86da989b17b1" xmlns:ns3="d83ea3cd-2430-49d9-a1b1-736257ecbc0e" targetNamespace="http://schemas.microsoft.com/office/2006/metadata/properties" ma:root="true" ma:fieldsID="6549aebfb17249057f5236a8630657be" ns2:_="" ns3:_="">
    <xsd:import namespace="219fc5de-6bf9-4326-8648-86da989b17b1"/>
    <xsd:import namespace="d83ea3cd-2430-49d9-a1b1-736257ecbc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9fc5de-6bf9-4326-8648-86da989b17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536f5af2-fc6c-420d-9bfd-1e8839ff1f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3ea3cd-2430-49d9-a1b1-736257ecbc0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95d30053-cf85-4834-b9a8-26184bbf13c1}" ma:internalName="TaxCatchAll" ma:showField="CatchAllData" ma:web="d83ea3cd-2430-49d9-a1b1-736257ecbc0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3AC0D02-E5C1-4BD3-9200-5A37559EF3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73DECC-EC46-499E-82A2-D860C3E6E01E}">
  <ds:schemaRefs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219fc5de-6bf9-4326-8648-86da989b17b1"/>
    <ds:schemaRef ds:uri="http://purl.org/dc/terms/"/>
    <ds:schemaRef ds:uri="d83ea3cd-2430-49d9-a1b1-736257ecbc0e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E85CC01-BCCD-47F0-8437-06EA5AC566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9fc5de-6bf9-4326-8648-86da989b17b1"/>
    <ds:schemaRef ds:uri="d83ea3cd-2430-49d9-a1b1-736257ecbc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Plantillas Fórmula 1N</Template>
  <TotalTime>15556</TotalTime>
  <Words>453</Words>
  <Application>Microsoft Office PowerPoint</Application>
  <PresentationFormat>Panorámica</PresentationFormat>
  <Paragraphs>61</Paragraphs>
  <Slides>5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5</vt:i4>
      </vt:variant>
    </vt:vector>
  </HeadingPairs>
  <TitlesOfParts>
    <vt:vector size="16" baseType="lpstr">
      <vt:lpstr>Aptos</vt:lpstr>
      <vt:lpstr>Arial</vt:lpstr>
      <vt:lpstr>Calibri</vt:lpstr>
      <vt:lpstr>Poppins</vt:lpstr>
      <vt:lpstr>Poppins ExtraBold</vt:lpstr>
      <vt:lpstr>Poppins Medium</vt:lpstr>
      <vt:lpstr>Títulos y subtítulos</vt:lpstr>
      <vt:lpstr>Cuerpos de texto</vt:lpstr>
      <vt:lpstr>Diseños en blanco</vt:lpstr>
      <vt:lpstr>Texto con imágenes</vt:lpstr>
      <vt:lpstr>Frases</vt:lpstr>
      <vt:lpstr>Plataforma de consulta centralizada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Velarde Escudero, Carolina</dc:creator>
  <cp:lastModifiedBy>Jean Ayala</cp:lastModifiedBy>
  <cp:revision>42</cp:revision>
  <dcterms:created xsi:type="dcterms:W3CDTF">2026-02-12T13:47:28Z</dcterms:created>
  <dcterms:modified xsi:type="dcterms:W3CDTF">2026-07-06T13:25:20Z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0x0101008E3BDDDD6B6791429152AAD099BD252E</vt:lpwstr>
  </property>
  <property fmtid="{D5CDD505-2E9C-101B-9397-08002B2CF9AE}" pid="3" name="MediaServiceImageTags">
    <vt:lpwstr/>
  </property>
  <property fmtid="{D5CDD505-2E9C-101B-9397-08002B2CF9AE}" pid="4" name="KriptosClassAi">
    <vt:lpwstr>2-Confidencial</vt:lpwstr>
  </property>
  <property fmtid="{D5CDD505-2E9C-101B-9397-08002B2CF9AE}" pid="5" name="MSIP_Label_d5bedeb1-b3ac-45db-91f7-453e06cfe2b0_Enabled">
    <vt:lpwstr>True</vt:lpwstr>
  </property>
  <property fmtid="{D5CDD505-2E9C-101B-9397-08002B2CF9AE}" pid="6" name="MSIP_Label_d5bedeb1-b3ac-45db-91f7-453e06cfe2b0_SiteId">
    <vt:lpwstr>360bc517-7aac-4c17-9907-4c5f13a12289</vt:lpwstr>
  </property>
  <property fmtid="{D5CDD505-2E9C-101B-9397-08002B2CF9AE}" pid="7" name="MSIP_Label_d5bedeb1-b3ac-45db-91f7-453e06cfe2b0_SetDate">
    <vt:lpwstr>2026-06-08T16:04:13Z</vt:lpwstr>
  </property>
  <property fmtid="{D5CDD505-2E9C-101B-9397-08002B2CF9AE}" pid="8" name="MSIP_Label_d5bedeb1-b3ac-45db-91f7-453e06cfe2b0_Name">
    <vt:lpwstr>Confidencial</vt:lpwstr>
  </property>
  <property fmtid="{D5CDD505-2E9C-101B-9397-08002B2CF9AE}" pid="9" name="MSIP_Label_d5bedeb1-b3ac-45db-91f7-453e06cfe2b0_ActionId">
    <vt:lpwstr>44bcb9b7-92b6-482b-8b72-a6696902abd9</vt:lpwstr>
  </property>
  <property fmtid="{D5CDD505-2E9C-101B-9397-08002B2CF9AE}" pid="10" name="MSIP_Label_d5bedeb1-b3ac-45db-91f7-453e06cfe2b0_Removed">
    <vt:lpwstr>False</vt:lpwstr>
  </property>
  <property fmtid="{D5CDD505-2E9C-101B-9397-08002B2CF9AE}" pid="11" name="MSIP_Label_d5bedeb1-b3ac-45db-91f7-453e06cfe2b0_Parent">
    <vt:lpwstr/>
  </property>
  <property fmtid="{D5CDD505-2E9C-101B-9397-08002B2CF9AE}" pid="12" name="MSIP_Label_d5bedeb1-b3ac-45db-91f7-453e06cfe2b0_Extended_MSFT_Method">
    <vt:lpwstr>Standard</vt:lpwstr>
  </property>
  <property fmtid="{D5CDD505-2E9C-101B-9397-08002B2CF9AE}" pid="13" name="Sensitivity">
    <vt:lpwstr>Confidencial</vt:lpwstr>
  </property>
</Properties>
</file>