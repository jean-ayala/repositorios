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  <p:embeddedFont>
      <p:font typeface="Inter Black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MontserratExtraBold-boldItalic.fntdata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Blac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Black-boldItalic.fntdata"/><Relationship Id="rId11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5" Type="http://schemas.openxmlformats.org/officeDocument/2006/relationships/font" Target="fonts/Montserrat-regular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Inter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32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8.png"/><Relationship Id="rId13" Type="http://schemas.openxmlformats.org/officeDocument/2006/relationships/image" Target="../media/image23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9" Type="http://schemas.openxmlformats.org/officeDocument/2006/relationships/image" Target="../media/image13.png"/><Relationship Id="rId1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8831"/>
            <a:ext cx="5334000" cy="3433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8831"/>
            <a:ext cx="5334000" cy="3433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412206"/>
            <a:ext cx="1362075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57250" y="283606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El Paradigma del "Llame el Lunes"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2412206"/>
            <a:ext cx="1819275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6572250" y="2836068"/>
            <a:ext cx="500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Resolución al Primer Contacto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23950" y="3283743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A254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Dependencia externa: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Atención sujeta a ciclos rígidos de actualización fuera de la disponibilidad directa del gestor.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123950" y="3855243"/>
            <a:ext cx="449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A254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Atención aplazada: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gestor se ve forzado a posponer el acuerdo de pago si no cuenta con el dato preciso de inmediato.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123950" y="4655343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A254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Fricción innecesaria: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Las consultas en fines de semana o fuera de ciclo forzaban esperas operativas prolongadas.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38950" y="3283743"/>
            <a:ext cx="449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A254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Disponibilidad real: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Centralización de bases de datos actualizadas para agilizar y concretar acuerdos de pago inmediatos.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838950" y="4083843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A254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Resolución total: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agente posee autonomía y visibilidad íntegra para cerrar negociaciones desde la primera llamada.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838950" y="4655343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A254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Atención continua: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Herramienta robusta que faculta a cualquier asesor a operar eficazmente la cartera Recovery.</a:t>
            </a:r>
            <a:endParaRPr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32184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89334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469344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332184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412194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469344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10772775" y="495300"/>
            <a:ext cx="84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2F6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</a:t>
            </a:r>
            <a:r>
              <a:rPr b="0" i="0" lang="en-US" sz="1050" u="none" cap="none" strike="noStrike">
                <a:solidFill>
                  <a:srgbClr val="00B15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bank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EVOLUCIÓN DE LA ATENCIÓN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5810250" y="657225"/>
            <a:ext cx="571500" cy="38100"/>
          </a:xfrm>
          <a:prstGeom prst="rect">
            <a:avLst/>
          </a:prstGeom>
          <a:solidFill>
            <a:srgbClr val="00B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0812"/>
            <a:ext cx="5334000" cy="1309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1950"/>
            <a:ext cx="5334000" cy="1309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795462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71500" y="1938337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Unificación de registros en una sola interfaz integral para una búsqueda ágil y eficaz.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190625" y="2881312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Perfil Agente (Consultas)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57250" y="3167062"/>
            <a:ext cx="481012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Permite consolidar múltiples deudas y productos de un mismo cliente en una sola vista. Búsqueda directa por CU, CJ o número de documento con visibilidad de capital e importes.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190625" y="4362450"/>
            <a:ext cx="47005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Perfil Supervisor (Gestión)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57250" y="4648200"/>
            <a:ext cx="481012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 integral de la carga sabitana (.xlsx) con validación inmediata, configuración dinámica de columnas visibles y asignación ágil de estrategias preventivas.</a:t>
            </a:r>
            <a:endParaRPr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795462"/>
            <a:ext cx="5334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29003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4381500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10772775" y="495300"/>
            <a:ext cx="84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2F6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</a:t>
            </a:r>
            <a:r>
              <a:rPr b="0" i="0" lang="en-US" sz="1050" u="none" cap="none" strike="noStrike">
                <a:solidFill>
                  <a:srgbClr val="00B15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bank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PLATAFORMA DE CONSULTA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5810250" y="657225"/>
            <a:ext cx="571500" cy="38100"/>
          </a:xfrm>
          <a:prstGeom prst="rect">
            <a:avLst/>
          </a:prstGeom>
          <a:solidFill>
            <a:srgbClr val="00B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2150"/>
            <a:ext cx="5334000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2150"/>
            <a:ext cx="5334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962150"/>
            <a:ext cx="5334000" cy="973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78360"/>
            <a:ext cx="5334000" cy="973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194571"/>
            <a:ext cx="5334000" cy="973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2200275"/>
            <a:ext cx="8382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2152650"/>
            <a:ext cx="334416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3268860"/>
            <a:ext cx="315366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000" y="4385071"/>
            <a:ext cx="314176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933575" y="2364581"/>
            <a:ext cx="392049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Volumen Atendido Exitoso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933575" y="2631281"/>
            <a:ext cx="37338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implementación se asimiló de forma óptima sin generar fricciones ni impactos negativos en el flujo de la operación.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29833" y="22764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7001916" y="2152650"/>
            <a:ext cx="46494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Reducción del TMO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001916" y="2371725"/>
            <a:ext cx="4428083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Menos clics y navegación simplificada unificada aceleran el tiempo operativo de atención por asesor.</a:t>
            </a:r>
            <a:endParaRPr/>
          </a:p>
        </p:txBody>
      </p:sp>
      <p:pic>
        <p:nvPicPr>
          <p:cNvPr descr="image.png" id="144" name="Google Shape;14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20308" y="33926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6982866" y="3268860"/>
            <a:ext cx="466948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Cero Fugas de Cartera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982866" y="3487935"/>
            <a:ext cx="4447133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Derivación y direccionamiento inmediato a los estudios adecuados (Correos y Teléfonos) evitando demoras.</a:t>
            </a:r>
            <a:endParaRPr/>
          </a:p>
        </p:txBody>
      </p:sp>
      <p:pic>
        <p:nvPicPr>
          <p:cNvPr descr="image.png" id="147" name="Google Shape;14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48288" y="450889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6981676" y="4385071"/>
            <a:ext cx="467074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Estandarización de Servicio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981676" y="4604146"/>
            <a:ext cx="4448323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Resolución total en el primer contacto para maximizar la experiencia del cliente y la efectividad del acuerdo.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0772775" y="495300"/>
            <a:ext cx="84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2F6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</a:t>
            </a:r>
            <a:r>
              <a:rPr b="0" i="0" lang="en-US" sz="1050" u="none" cap="none" strike="noStrike">
                <a:solidFill>
                  <a:srgbClr val="00B15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bank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IMPACTO OPERATIVO Y KPIS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5810250" y="657225"/>
            <a:ext cx="571500" cy="38100"/>
          </a:xfrm>
          <a:prstGeom prst="rect">
            <a:avLst/>
          </a:prstGeom>
          <a:solidFill>
            <a:srgbClr val="00B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30340"/>
            <a:ext cx="11049000" cy="80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05496"/>
            <a:ext cx="5381625" cy="871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9908"/>
            <a:ext cx="5381625" cy="871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104727"/>
            <a:ext cx="2619375" cy="1072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01125" y="2104727"/>
            <a:ext cx="2619375" cy="1072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8875" y="3319908"/>
            <a:ext cx="2619375" cy="1072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01125" y="3319908"/>
            <a:ext cx="2619375" cy="107230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809625" y="4744640"/>
            <a:ext cx="10620375" cy="579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Mensaje Ejecutivo: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 nueva solución elimina por completo la necesidad de transferir llamadas de clientes CJ, habilitando al primer asesor a resolver la consulta de inicio a fin. Esto optimiza los tiempos de atención, erradica la segunda validación de datos, mejora significativamente la experiencia de usuario y devuelve mensualmente una capacidad operativa de aproximadamente </a:t>
            </a:r>
            <a:r>
              <a:rPr b="1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420 horas hombre</a:t>
            </a:r>
            <a:r>
              <a:rPr b="0" i="0" lang="en-US" sz="10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09625" y="2448371"/>
            <a:ext cx="5200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PROCESO ANTERIOR (CON FRICCIÓN)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09625" y="3462783"/>
            <a:ext cx="5200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PROCESO CON NUEVA WEB (FRICTIONLESS)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234237" y="2314277"/>
            <a:ext cx="628650" cy="356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560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410325" y="2708523"/>
            <a:ext cx="227647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TRANSFERENCIAS ELIMINADAS POR DÍA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10015537" y="2314277"/>
            <a:ext cx="590550" cy="356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14h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9172575" y="2708523"/>
            <a:ext cx="227647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HORAS HOMBRE RECUPERADAS AL DÍA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7115175" y="3603724"/>
            <a:ext cx="866775" cy="356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420h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615112" y="3997969"/>
            <a:ext cx="18669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HORAS RECUPERADAS AL MES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0120312" y="3529458"/>
            <a:ext cx="381000" cy="356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~2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9172575" y="3923704"/>
            <a:ext cx="227647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ASESORES DE CAPACIDAD LIBERADOS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57250" y="2696021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3,048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Inbound / Día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2095500" y="2696021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560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Clientes CJ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3333750" y="2696021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Trf.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otro asesor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572000" y="2696021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1.5 m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Espera y 2da Val.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857250" y="3710433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3,048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Inbound / Día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2095500" y="3710433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560</a:t>
            </a: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Clientes CJ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3333750" y="3710433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A2540"/>
                </a:solidFill>
                <a:latin typeface="Inter Black"/>
                <a:ea typeface="Inter Black"/>
                <a:cs typeface="Inter Black"/>
                <a:sym typeface="Inter Black"/>
              </a:rPr>
              <a:t>Autónomo</a:t>
            </a:r>
            <a:r>
              <a:rPr b="1" i="0" lang="en-US" sz="900" u="none" cap="none" strike="noStrike">
                <a:solidFill>
                  <a:srgbClr val="00B1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 Todo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572000" y="3710433"/>
            <a:ext cx="1143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A2540"/>
                </a:solidFill>
                <a:latin typeface="Inter Black"/>
                <a:ea typeface="Inter Black"/>
                <a:cs typeface="Inter Black"/>
                <a:sym typeface="Inter Black"/>
              </a:rPr>
              <a:t>Directo</a:t>
            </a:r>
            <a:r>
              <a:rPr b="1" i="0" lang="en-US" sz="900" u="none" cap="none" strike="noStrike">
                <a:solidFill>
                  <a:srgbClr val="00B1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 Transferencias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2028825" y="2831157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3267075" y="2831157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4505325" y="2831157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2028825" y="3845569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3267075" y="3845569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4505325" y="3845569"/>
            <a:ext cx="952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0772775" y="495300"/>
            <a:ext cx="847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2F6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</a:t>
            </a:r>
            <a:r>
              <a:rPr b="0" i="0" lang="en-US" sz="1050" u="none" cap="none" strike="noStrike">
                <a:solidFill>
                  <a:srgbClr val="00B15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bank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571500" y="476250"/>
            <a:ext cx="11601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IMPACTO: ELIMINACIÓN DE TRANSFERENCIAS CJ</a:t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5810250" y="633412"/>
            <a:ext cx="571500" cy="38100"/>
          </a:xfrm>
          <a:prstGeom prst="rect">
            <a:avLst/>
          </a:prstGeom>
          <a:solidFill>
            <a:srgbClr val="00B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57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1666875" y="35647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https://cdn-images-1.medium.com/max/800/0*7ZEt9p7-0rKVgeRX.jpg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1666875" y="37980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muz.li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571500" y="4762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IMAGE SOURCES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5810250" y="657225"/>
            <a:ext cx="571500" cy="38100"/>
          </a:xfrm>
          <a:prstGeom prst="rect">
            <a:avLst/>
          </a:prstGeom>
          <a:solidFill>
            <a:srgbClr val="00B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