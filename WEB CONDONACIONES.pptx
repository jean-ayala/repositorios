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98" r:id="rId2"/>
    <p:sldId id="424" r:id="rId3"/>
    <p:sldId id="425" r:id="rId4"/>
    <p:sldId id="428" r:id="rId5"/>
    <p:sldId id="429" r:id="rId6"/>
    <p:sldId id="430" r:id="rId7"/>
    <p:sldId id="431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870" autoAdjust="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0B99C-275F-4341-B66D-BCFF7390516E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7B7B7-5FBB-4FC6-9B22-1F7E1CD75EF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153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7B7B7-5FBB-4FC6-9B22-1F7E1CD75EF7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7456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B99-4DDF-B5D4-36B8-F4DD337A0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4470C0-8B32-2194-45B0-C436C2B0D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55727D-557D-0590-DA34-ED7AF316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802D4-17A4-02C1-09F9-EF02693D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476A92-8F99-2697-BDB6-B489AFE4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099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88846-634B-34EC-7344-CBFC347E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D054AB-31F0-1904-2D3D-700F8455A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40F8D-4301-14B2-0F71-B4BCFA0C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F7D3B6-CF39-793E-9586-7470A65C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1B7179-AB79-46AA-EB2C-A9B238F1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30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7DB5D-E1E0-B1E5-296F-D475ECA0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C065C8-5EDA-5F37-A59F-2972302DE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E4FA38-768E-C31B-9323-F52DC2A8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D0E082-00A2-83DD-CED4-DA63731E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FF03F-F90F-404C-81D5-7D54AEA5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785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BDC1C-A6A4-BEB0-1068-00E712F5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7A612-B485-2F48-09DD-8D0A0D209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39D31F-1159-669B-5EF6-4B9A40922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22802F-C372-9D5E-B5FB-8B8BAAFE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5DB9E-F629-6835-F5BD-7AB3167C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A73AAC-63B0-BE0E-AEDD-FF0A5CFC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417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51E79-DA8F-78FD-7901-7D533C3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8CA7-6F8D-62BA-7684-813A5EAB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331721-68DC-8D7A-D7A8-45855087B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6AF609-5ED8-6F2F-B496-8E2D757A7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5A6C29-0F0B-8226-7AA3-97C04604B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CC68D4-6ECD-0157-0035-A88EAA79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BC2336-9043-1E17-1873-65CC42DB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6B754A-7914-91D1-3C21-48545B90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255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90648-9745-18D9-2847-C894E3A6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C2A499-B668-DD6B-630D-52AB2958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E706F2-A8BA-1179-31FD-AB976D3E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2CE4F-6C60-D7A0-7B9E-1E12129E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256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4B7E05-B489-5CB9-D123-A3D10257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F17A1A-1A43-D769-298E-783E8812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93B1F4-6AD0-F83F-58D0-B523A4EC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86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9DC17-0D11-F23D-3A8D-395F20AE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9F6129-6D19-2086-3C5E-DAFE8EC5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B04409-3037-4BD2-4B0B-D6C642217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2453DC-CAF2-286C-DDA5-E372470C3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37AACF-2226-8D5F-5379-4CC8A4BB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5FA81C-C818-0480-CA19-6F0D53B7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912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77D41-B761-65AB-FC84-9DE79340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1BF716-8A39-40F4-E28F-5E275F171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CF89BA-B4BE-986B-A674-6D320C681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FE7BED-FE88-61A1-26AC-7EF33807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278896-16B4-D518-3A6A-DB54EC73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DDCD5-3D78-F285-E5A7-34458CFB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104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FD0C0-C34E-B31D-0277-FAD3DFBD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8090F3-6AA6-AA07-408D-4DB381967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2876C6-0312-4106-B083-5E6E09CC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C7B5A4-862D-B83E-8CEE-A38D49D5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25CE53-44CB-DC2D-BB2B-6D7BA3E1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536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71E722-3910-EE19-555C-EDF58250B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EA2409-C796-F7F4-F80E-D3CFF82D2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CCF8B7-6619-B8CE-B893-255E0076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3CAE4-D2E9-BEA4-B2FB-FA1A39C5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85E57D-4D1C-176B-1CF5-7F04A85F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721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A30660A2-5283-329B-60BF-97AC55376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0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9BCEEA-62DA-8B5C-B108-26DB3227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3CCF48-291B-308F-ADE2-65FDA93E1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184EC-D89E-82B3-95BF-9AA88CFFA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8D881-BEA7-4D30-863D-FAFCCFB0F87D}" type="datetimeFigureOut">
              <a:rPr lang="es-PE" smtClean="0"/>
              <a:t>4/08/2026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404ADF-30E6-9D5D-C97E-2E9C930D8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8CC65-C8F2-FA0A-9991-D4581597A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38BB4-C84E-482C-94D6-6C53858FCCF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342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7.svg"/><Relationship Id="rId7" Type="http://schemas.openxmlformats.org/officeDocument/2006/relationships/image" Target="../media/image20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4.sv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458E3-DA94-D344-E2EE-3030DD702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87329"/>
            <a:ext cx="9144000" cy="190500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 de Condonaciones</a:t>
            </a:r>
            <a:endParaRPr lang="es-PE" sz="4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6175EF9-2B70-BBC0-D35B-950432F45EC0}"/>
              </a:ext>
            </a:extLst>
          </p:cNvPr>
          <p:cNvSpPr txBox="1">
            <a:spLocks/>
          </p:cNvSpPr>
          <p:nvPr/>
        </p:nvSpPr>
        <p:spPr>
          <a:xfrm>
            <a:off x="1524000" y="1764890"/>
            <a:ext cx="914400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Recovery</a:t>
            </a:r>
            <a:endParaRPr lang="es-PE" sz="8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45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AFE8396-EBE9-3B86-ACEC-1220B80FA2FB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9762456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4000" dirty="0">
                <a:solidFill>
                  <a:srgbClr val="001C52"/>
                </a:solidFill>
              </a:rPr>
              <a:t>Problema y riesgo operativo</a:t>
            </a:r>
            <a:endParaRPr lang="es-PE" sz="1600" b="0" dirty="0">
              <a:solidFill>
                <a:srgbClr val="008F28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BE5D5C3-E491-A464-9A0D-1581DD60A63A}"/>
              </a:ext>
            </a:extLst>
          </p:cNvPr>
          <p:cNvSpPr txBox="1"/>
          <p:nvPr/>
        </p:nvSpPr>
        <p:spPr>
          <a:xfrm>
            <a:off x="479331" y="1007439"/>
            <a:ext cx="8419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Base para medir productividad, trazabilidad y efectividad</a:t>
            </a:r>
            <a:endParaRPr lang="es-PE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7E7F5D9-C027-2614-F5FC-AB81849AEEEC}"/>
              </a:ext>
            </a:extLst>
          </p:cNvPr>
          <p:cNvSpPr/>
          <p:nvPr/>
        </p:nvSpPr>
        <p:spPr>
          <a:xfrm>
            <a:off x="1298295" y="4160515"/>
            <a:ext cx="9280557" cy="794962"/>
          </a:xfrm>
          <a:prstGeom prst="roundRect">
            <a:avLst>
              <a:gd name="adj" fmla="val 10181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6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741B524-900E-AD43-A46C-83185B88D6AB}"/>
              </a:ext>
            </a:extLst>
          </p:cNvPr>
          <p:cNvSpPr txBox="1"/>
          <p:nvPr/>
        </p:nvSpPr>
        <p:spPr>
          <a:xfrm>
            <a:off x="2768426" y="4225774"/>
            <a:ext cx="7502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 el pago es menor a la campaña, la cuenta podría condonarse incorrectamente.</a:t>
            </a:r>
            <a:endParaRPr lang="es-PE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BDFFA41E-020A-61EC-92CC-7C888288707A}"/>
              </a:ext>
            </a:extLst>
          </p:cNvPr>
          <p:cNvSpPr/>
          <p:nvPr/>
        </p:nvSpPr>
        <p:spPr>
          <a:xfrm>
            <a:off x="1706904" y="1923412"/>
            <a:ext cx="1253613" cy="12528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2AB349A0-CC98-6ADD-AD46-464C1E5E935A}"/>
              </a:ext>
            </a:extLst>
          </p:cNvPr>
          <p:cNvSpPr/>
          <p:nvPr/>
        </p:nvSpPr>
        <p:spPr>
          <a:xfrm>
            <a:off x="3997301" y="1922084"/>
            <a:ext cx="1253613" cy="12528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621AE325-C295-02C3-FE13-70F9BB9AE8E8}"/>
              </a:ext>
            </a:extLst>
          </p:cNvPr>
          <p:cNvSpPr/>
          <p:nvPr/>
        </p:nvSpPr>
        <p:spPr>
          <a:xfrm>
            <a:off x="6287698" y="1922084"/>
            <a:ext cx="1253613" cy="12528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FB08BFC7-F0D9-8EDA-C646-BCF08B1C1F8A}"/>
              </a:ext>
            </a:extLst>
          </p:cNvPr>
          <p:cNvSpPr/>
          <p:nvPr/>
        </p:nvSpPr>
        <p:spPr>
          <a:xfrm>
            <a:off x="8578095" y="1943021"/>
            <a:ext cx="1253613" cy="12528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9" name="Gráfico 28" descr="Abrir sobre con relleno sólido">
            <a:extLst>
              <a:ext uri="{FF2B5EF4-FFF2-40B4-BE49-F238E27FC236}">
                <a16:creationId xmlns:a16="http://schemas.microsoft.com/office/drawing/2014/main" id="{F06C1C96-CBBE-4F92-3EA5-3BA56A832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4993" y="2184857"/>
            <a:ext cx="720000" cy="720000"/>
          </a:xfrm>
          <a:prstGeom prst="rect">
            <a:avLst/>
          </a:prstGeom>
        </p:spPr>
      </p:pic>
      <p:pic>
        <p:nvPicPr>
          <p:cNvPr id="31" name="Gráfico 30" descr="Advertencia con relleno sólido">
            <a:extLst>
              <a:ext uri="{FF2B5EF4-FFF2-40B4-BE49-F238E27FC236}">
                <a16:creationId xmlns:a16="http://schemas.microsoft.com/office/drawing/2014/main" id="{BAE6776F-D060-EBAE-C23D-B867C009C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901" y="2184857"/>
            <a:ext cx="720000" cy="720000"/>
          </a:xfrm>
          <a:prstGeom prst="rect">
            <a:avLst/>
          </a:prstGeom>
        </p:spPr>
      </p:pic>
      <p:pic>
        <p:nvPicPr>
          <p:cNvPr id="33" name="Gráfico 32" descr="Sirena con relleno sólido">
            <a:extLst>
              <a:ext uri="{FF2B5EF4-FFF2-40B4-BE49-F238E27FC236}">
                <a16:creationId xmlns:a16="http://schemas.microsoft.com/office/drawing/2014/main" id="{E94534EE-05D4-04CC-3C8E-2582DFB47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0181" y="4125996"/>
            <a:ext cx="864000" cy="864000"/>
          </a:xfrm>
          <a:prstGeom prst="rect">
            <a:avLst/>
          </a:prstGeom>
        </p:spPr>
      </p:pic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DEC3C5FA-D552-981B-8916-AE6AC85D0F93}"/>
              </a:ext>
            </a:extLst>
          </p:cNvPr>
          <p:cNvSpPr/>
          <p:nvPr/>
        </p:nvSpPr>
        <p:spPr>
          <a:xfrm>
            <a:off x="1138050" y="5437210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9018161C-3DDB-868E-D90B-7A5E4013ACAD}"/>
              </a:ext>
            </a:extLst>
          </p:cNvPr>
          <p:cNvSpPr/>
          <p:nvPr/>
        </p:nvSpPr>
        <p:spPr>
          <a:xfrm>
            <a:off x="3648533" y="5437210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Diagrama de flujo: conector 42">
            <a:extLst>
              <a:ext uri="{FF2B5EF4-FFF2-40B4-BE49-F238E27FC236}">
                <a16:creationId xmlns:a16="http://schemas.microsoft.com/office/drawing/2014/main" id="{2F426552-EE40-F198-9027-CD02C3778D5C}"/>
              </a:ext>
            </a:extLst>
          </p:cNvPr>
          <p:cNvSpPr/>
          <p:nvPr/>
        </p:nvSpPr>
        <p:spPr>
          <a:xfrm>
            <a:off x="6291155" y="5437210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Diagrama de flujo: conector 44">
            <a:extLst>
              <a:ext uri="{FF2B5EF4-FFF2-40B4-BE49-F238E27FC236}">
                <a16:creationId xmlns:a16="http://schemas.microsoft.com/office/drawing/2014/main" id="{A2325D62-32B8-981E-9263-CDF87F22F6BB}"/>
              </a:ext>
            </a:extLst>
          </p:cNvPr>
          <p:cNvSpPr/>
          <p:nvPr/>
        </p:nvSpPr>
        <p:spPr>
          <a:xfrm>
            <a:off x="8670167" y="5437210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7" name="Gráfico 46" descr="Bloquear con relleno sólido">
            <a:extLst>
              <a:ext uri="{FF2B5EF4-FFF2-40B4-BE49-F238E27FC236}">
                <a16:creationId xmlns:a16="http://schemas.microsoft.com/office/drawing/2014/main" id="{5EE483AE-2332-B65B-5581-D016FC61C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3479" y="5563210"/>
            <a:ext cx="648000" cy="648000"/>
          </a:xfrm>
          <a:prstGeom prst="rect">
            <a:avLst/>
          </a:prstGeom>
        </p:spPr>
      </p:pic>
      <p:pic>
        <p:nvPicPr>
          <p:cNvPr id="49" name="Gráfico 48" descr="Mejora continua con relleno sólido">
            <a:extLst>
              <a:ext uri="{FF2B5EF4-FFF2-40B4-BE49-F238E27FC236}">
                <a16:creationId xmlns:a16="http://schemas.microsoft.com/office/drawing/2014/main" id="{81DDEE45-1131-964D-AF13-5DCD6D4E9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3160" y="5563210"/>
            <a:ext cx="648000" cy="648000"/>
          </a:xfrm>
          <a:prstGeom prst="rect">
            <a:avLst/>
          </a:prstGeom>
        </p:spPr>
      </p:pic>
      <p:pic>
        <p:nvPicPr>
          <p:cNvPr id="51" name="Gráfico 50" descr="Calendario giratorio con relleno sólido">
            <a:extLst>
              <a:ext uri="{FF2B5EF4-FFF2-40B4-BE49-F238E27FC236}">
                <a16:creationId xmlns:a16="http://schemas.microsoft.com/office/drawing/2014/main" id="{F48D9EB2-ECB3-2F57-F136-AFE8AE1CC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8778" y="2184857"/>
            <a:ext cx="720000" cy="720000"/>
          </a:xfrm>
          <a:prstGeom prst="rect">
            <a:avLst/>
          </a:prstGeom>
        </p:spPr>
      </p:pic>
      <p:pic>
        <p:nvPicPr>
          <p:cNvPr id="53" name="Gráfico 52" descr="Portapapeles comprobado con relleno sólido">
            <a:extLst>
              <a:ext uri="{FF2B5EF4-FFF2-40B4-BE49-F238E27FC236}">
                <a16:creationId xmlns:a16="http://schemas.microsoft.com/office/drawing/2014/main" id="{37E8DA7D-AF02-D041-DDD5-E0DEA06EA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4057" y="5578583"/>
            <a:ext cx="648000" cy="648000"/>
          </a:xfrm>
          <a:prstGeom prst="rect">
            <a:avLst/>
          </a:prstGeom>
        </p:spPr>
      </p:pic>
      <p:pic>
        <p:nvPicPr>
          <p:cNvPr id="55" name="Gráfico 54" descr="Insignia 4 con relleno sólido">
            <a:extLst>
              <a:ext uri="{FF2B5EF4-FFF2-40B4-BE49-F238E27FC236}">
                <a16:creationId xmlns:a16="http://schemas.microsoft.com/office/drawing/2014/main" id="{874E8D40-D6FD-E7CB-99B3-F75064B1D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1777" y="1965033"/>
            <a:ext cx="540000" cy="540000"/>
          </a:xfrm>
          <a:prstGeom prst="rect">
            <a:avLst/>
          </a:prstGeom>
        </p:spPr>
      </p:pic>
      <p:pic>
        <p:nvPicPr>
          <p:cNvPr id="57" name="Gráfico 56" descr="Insignia 1 con relleno sólido">
            <a:extLst>
              <a:ext uri="{FF2B5EF4-FFF2-40B4-BE49-F238E27FC236}">
                <a16:creationId xmlns:a16="http://schemas.microsoft.com/office/drawing/2014/main" id="{B19CC7AB-BC20-A201-0166-5E1EDD652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8295" y="1965033"/>
            <a:ext cx="540000" cy="540000"/>
          </a:xfrm>
          <a:prstGeom prst="rect">
            <a:avLst/>
          </a:prstGeom>
        </p:spPr>
      </p:pic>
      <p:pic>
        <p:nvPicPr>
          <p:cNvPr id="59" name="Gráfico 58" descr="Insignia 3 con relleno sólido">
            <a:extLst>
              <a:ext uri="{FF2B5EF4-FFF2-40B4-BE49-F238E27FC236}">
                <a16:creationId xmlns:a16="http://schemas.microsoft.com/office/drawing/2014/main" id="{CC452E3C-711D-E84F-2FDF-B0037342A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4993" y="1991033"/>
            <a:ext cx="540000" cy="540000"/>
          </a:xfrm>
          <a:prstGeom prst="rect">
            <a:avLst/>
          </a:prstGeom>
        </p:spPr>
      </p:pic>
      <p:pic>
        <p:nvPicPr>
          <p:cNvPr id="61" name="Gráfico 60" descr="Insignia con relleno sólido">
            <a:extLst>
              <a:ext uri="{FF2B5EF4-FFF2-40B4-BE49-F238E27FC236}">
                <a16:creationId xmlns:a16="http://schemas.microsoft.com/office/drawing/2014/main" id="{9A0ED68F-E02D-6C3F-52CC-E2FF3DB63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5016" y="2004857"/>
            <a:ext cx="540000" cy="540000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77CEAFFE-1211-E083-CE25-67EF917C3663}"/>
              </a:ext>
            </a:extLst>
          </p:cNvPr>
          <p:cNvSpPr txBox="1"/>
          <p:nvPr/>
        </p:nvSpPr>
        <p:spPr>
          <a:xfrm>
            <a:off x="2049294" y="5609360"/>
            <a:ext cx="123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Validación </a:t>
            </a:r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Manual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BAAE205-9D9F-01F2-9503-42B9AF2F2E95}"/>
              </a:ext>
            </a:extLst>
          </p:cNvPr>
          <p:cNvSpPr txBox="1"/>
          <p:nvPr/>
        </p:nvSpPr>
        <p:spPr>
          <a:xfrm>
            <a:off x="4549400" y="5609360"/>
            <a:ext cx="13768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 Bloqueo </a:t>
            </a:r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Automático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EB15E64-54C9-A73E-80EB-1C2ED39A4780}"/>
              </a:ext>
            </a:extLst>
          </p:cNvPr>
          <p:cNvSpPr txBox="1"/>
          <p:nvPr/>
        </p:nvSpPr>
        <p:spPr>
          <a:xfrm>
            <a:off x="7074797" y="5609360"/>
            <a:ext cx="123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Riesgo de </a:t>
            </a:r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Pérdida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2641BCE6-2209-79EA-E977-C14BBB3FA1F0}"/>
              </a:ext>
            </a:extLst>
          </p:cNvPr>
          <p:cNvSpPr txBox="1"/>
          <p:nvPr/>
        </p:nvSpPr>
        <p:spPr>
          <a:xfrm>
            <a:off x="9680963" y="5594806"/>
            <a:ext cx="123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Reproceso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5683BA9-EB8C-12AE-5C55-B3730D78387F}"/>
              </a:ext>
            </a:extLst>
          </p:cNvPr>
          <p:cNvSpPr txBox="1"/>
          <p:nvPr/>
        </p:nvSpPr>
        <p:spPr>
          <a:xfrm>
            <a:off x="1690779" y="3263420"/>
            <a:ext cx="12369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Asesor</a:t>
            </a:r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completa un Excel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DB391E5-6C17-0DEE-6563-93E3A30EC1CC}"/>
              </a:ext>
            </a:extLst>
          </p:cNvPr>
          <p:cNvSpPr txBox="1"/>
          <p:nvPr/>
        </p:nvSpPr>
        <p:spPr>
          <a:xfrm>
            <a:off x="3951393" y="3292716"/>
            <a:ext cx="13768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Supervisión</a:t>
            </a:r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consolida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08074C1-E80A-BABD-D22E-1E4486F6A622}"/>
              </a:ext>
            </a:extLst>
          </p:cNvPr>
          <p:cNvSpPr txBox="1"/>
          <p:nvPr/>
        </p:nvSpPr>
        <p:spPr>
          <a:xfrm>
            <a:off x="6319261" y="3276435"/>
            <a:ext cx="123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 envía </a:t>
            </a:r>
          </a:p>
          <a:p>
            <a:pPr algn="ctr"/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condonar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5AB4F0D-BA6A-93E4-4D76-D7425FD77EEB}"/>
              </a:ext>
            </a:extLst>
          </p:cNvPr>
          <p:cNvSpPr txBox="1"/>
          <p:nvPr/>
        </p:nvSpPr>
        <p:spPr>
          <a:xfrm>
            <a:off x="8612477" y="3292716"/>
            <a:ext cx="123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Riesgo</a:t>
            </a:r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es-ES" sz="1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error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1" name="Gráfico 80" descr="Portátil con relleno sólido">
            <a:extLst>
              <a:ext uri="{FF2B5EF4-FFF2-40B4-BE49-F238E27FC236}">
                <a16:creationId xmlns:a16="http://schemas.microsoft.com/office/drawing/2014/main" id="{BD4E00CE-B9C0-29A9-C415-9109B607C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87897" y="2186654"/>
            <a:ext cx="720000" cy="720000"/>
          </a:xfrm>
          <a:prstGeom prst="rect">
            <a:avLst/>
          </a:prstGeom>
        </p:spPr>
      </p:pic>
      <p:sp>
        <p:nvSpPr>
          <p:cNvPr id="82" name="Flecha: a la derecha 81">
            <a:extLst>
              <a:ext uri="{FF2B5EF4-FFF2-40B4-BE49-F238E27FC236}">
                <a16:creationId xmlns:a16="http://schemas.microsoft.com/office/drawing/2014/main" id="{2C0A8361-88FD-A12F-ACD1-058B5D5C3310}"/>
              </a:ext>
            </a:extLst>
          </p:cNvPr>
          <p:cNvSpPr/>
          <p:nvPr/>
        </p:nvSpPr>
        <p:spPr>
          <a:xfrm>
            <a:off x="3089484" y="2368533"/>
            <a:ext cx="592401" cy="32895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4" name="Flecha: a la derecha 83">
            <a:extLst>
              <a:ext uri="{FF2B5EF4-FFF2-40B4-BE49-F238E27FC236}">
                <a16:creationId xmlns:a16="http://schemas.microsoft.com/office/drawing/2014/main" id="{D7ACE1C8-72A6-B70F-0DBB-DCDEBF8E5E58}"/>
              </a:ext>
            </a:extLst>
          </p:cNvPr>
          <p:cNvSpPr/>
          <p:nvPr/>
        </p:nvSpPr>
        <p:spPr>
          <a:xfrm>
            <a:off x="5422592" y="2388993"/>
            <a:ext cx="592401" cy="32895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6" name="Flecha: a la derecha 85">
            <a:extLst>
              <a:ext uri="{FF2B5EF4-FFF2-40B4-BE49-F238E27FC236}">
                <a16:creationId xmlns:a16="http://schemas.microsoft.com/office/drawing/2014/main" id="{249DF01A-48DC-A349-AE14-C95E481081F8}"/>
              </a:ext>
            </a:extLst>
          </p:cNvPr>
          <p:cNvSpPr/>
          <p:nvPr/>
        </p:nvSpPr>
        <p:spPr>
          <a:xfrm>
            <a:off x="7763502" y="2388993"/>
            <a:ext cx="592401" cy="32895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8" name="Gráfico 87" descr="Gráfico de barras con tendencia bajista con relleno sólido">
            <a:extLst>
              <a:ext uri="{FF2B5EF4-FFF2-40B4-BE49-F238E27FC236}">
                <a16:creationId xmlns:a16="http://schemas.microsoft.com/office/drawing/2014/main" id="{A92A7AF3-F118-4D3C-3883-2B214A7F5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7155" y="5582409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0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8EEF-E6C2-3E9B-8834-82945B7D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C89D3365-349E-3995-472B-CB0E2A36599C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9762456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4000" dirty="0">
                <a:solidFill>
                  <a:srgbClr val="001C52"/>
                </a:solidFill>
              </a:rPr>
              <a:t>Flujo propuesto con la Web</a:t>
            </a:r>
            <a:endParaRPr lang="es-PE" sz="1600" b="0" dirty="0">
              <a:solidFill>
                <a:srgbClr val="008F28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539810B-640F-A4FD-0771-65C1EFE31FF6}"/>
              </a:ext>
            </a:extLst>
          </p:cNvPr>
          <p:cNvSpPr txBox="1"/>
          <p:nvPr/>
        </p:nvSpPr>
        <p:spPr>
          <a:xfrm>
            <a:off x="479331" y="1007439"/>
            <a:ext cx="8419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Base para medir productividad, trazabilidad y efectividad</a:t>
            </a:r>
            <a:endParaRPr lang="es-PE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174433E3-9BCE-2B93-2FA8-AF300032F47A}"/>
              </a:ext>
            </a:extLst>
          </p:cNvPr>
          <p:cNvSpPr/>
          <p:nvPr/>
        </p:nvSpPr>
        <p:spPr>
          <a:xfrm>
            <a:off x="1173450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78B91361-4364-E80D-CC90-4C002E1B88EC}"/>
              </a:ext>
            </a:extLst>
          </p:cNvPr>
          <p:cNvSpPr/>
          <p:nvPr/>
        </p:nvSpPr>
        <p:spPr>
          <a:xfrm>
            <a:off x="2797221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0B1C270C-8E7D-F34A-EA7A-661F83F79B8A}"/>
              </a:ext>
            </a:extLst>
          </p:cNvPr>
          <p:cNvSpPr/>
          <p:nvPr/>
        </p:nvSpPr>
        <p:spPr>
          <a:xfrm>
            <a:off x="4394060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E2FFC90-BF33-1766-527F-3F286FA0082C}"/>
              </a:ext>
            </a:extLst>
          </p:cNvPr>
          <p:cNvSpPr/>
          <p:nvPr/>
        </p:nvSpPr>
        <p:spPr>
          <a:xfrm>
            <a:off x="6017831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D6A21A07-CB55-317A-D3F7-C671FB4762D3}"/>
              </a:ext>
            </a:extLst>
          </p:cNvPr>
          <p:cNvSpPr/>
          <p:nvPr/>
        </p:nvSpPr>
        <p:spPr>
          <a:xfrm>
            <a:off x="7785644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5C16243B-D445-4E4A-7BAB-7753DE48A0A7}"/>
              </a:ext>
            </a:extLst>
          </p:cNvPr>
          <p:cNvSpPr/>
          <p:nvPr/>
        </p:nvSpPr>
        <p:spPr>
          <a:xfrm>
            <a:off x="9409415" y="1923412"/>
            <a:ext cx="900000" cy="90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" name="Gráfico 4" descr="Portapapeles comprobado con relleno sólido">
            <a:extLst>
              <a:ext uri="{FF2B5EF4-FFF2-40B4-BE49-F238E27FC236}">
                <a16:creationId xmlns:a16="http://schemas.microsoft.com/office/drawing/2014/main" id="{54934442-FBE2-7F20-97CC-D992BA431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2018" y="2049412"/>
            <a:ext cx="648000" cy="648000"/>
          </a:xfrm>
          <a:prstGeom prst="rect">
            <a:avLst/>
          </a:prstGeom>
        </p:spPr>
      </p:pic>
      <p:pic>
        <p:nvPicPr>
          <p:cNvPr id="10" name="Gráfico 9" descr="Bloquear con relleno sólido">
            <a:extLst>
              <a:ext uri="{FF2B5EF4-FFF2-40B4-BE49-F238E27FC236}">
                <a16:creationId xmlns:a16="http://schemas.microsoft.com/office/drawing/2014/main" id="{71354D6A-2AF3-46D4-17D1-E6AF3D7B04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1873" y="2049412"/>
            <a:ext cx="648000" cy="648000"/>
          </a:xfrm>
          <a:prstGeom prst="rect">
            <a:avLst/>
          </a:prstGeom>
        </p:spPr>
      </p:pic>
      <p:pic>
        <p:nvPicPr>
          <p:cNvPr id="15" name="Gráfico 14" descr="Portátil con relleno sólido">
            <a:extLst>
              <a:ext uri="{FF2B5EF4-FFF2-40B4-BE49-F238E27FC236}">
                <a16:creationId xmlns:a16="http://schemas.microsoft.com/office/drawing/2014/main" id="{905556BD-973B-C36F-FC16-8B013BF2C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7221" y="2013412"/>
            <a:ext cx="720000" cy="720000"/>
          </a:xfrm>
          <a:prstGeom prst="rect">
            <a:avLst/>
          </a:prstGeom>
        </p:spPr>
      </p:pic>
      <p:pic>
        <p:nvPicPr>
          <p:cNvPr id="18" name="Imagen 17" descr="Logo de Microsoft Excel: la historia y el significado de logotipo, la marca  y el simbolo. | png, vector">
            <a:extLst>
              <a:ext uri="{FF2B5EF4-FFF2-40B4-BE49-F238E27FC236}">
                <a16:creationId xmlns:a16="http://schemas.microsoft.com/office/drawing/2014/main" id="{74BA16F4-CDBE-93D2-9059-3DEFDF6249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68" r="18551"/>
          <a:stretch>
            <a:fillRect/>
          </a:stretch>
        </p:blipFill>
        <p:spPr>
          <a:xfrm>
            <a:off x="1299585" y="2085412"/>
            <a:ext cx="605467" cy="576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63825820-9FF3-241D-22BA-5CBFE8009C94}"/>
              </a:ext>
            </a:extLst>
          </p:cNvPr>
          <p:cNvSpPr txBox="1"/>
          <p:nvPr/>
        </p:nvSpPr>
        <p:spPr>
          <a:xfrm>
            <a:off x="781855" y="2931412"/>
            <a:ext cx="1544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Gestor ingresa CU y CJ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1D81B4-6750-3504-1BF8-C6C2336A7CB0}"/>
              </a:ext>
            </a:extLst>
          </p:cNvPr>
          <p:cNvSpPr txBox="1"/>
          <p:nvPr/>
        </p:nvSpPr>
        <p:spPr>
          <a:xfrm>
            <a:off x="2370480" y="2931412"/>
            <a:ext cx="1544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 carga datos del cliente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12674C5-5405-D97C-CE90-26244C13D379}"/>
              </a:ext>
            </a:extLst>
          </p:cNvPr>
          <p:cNvSpPr txBox="1"/>
          <p:nvPr/>
        </p:nvSpPr>
        <p:spPr>
          <a:xfrm>
            <a:off x="4093926" y="2931412"/>
            <a:ext cx="1544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 campaña y pago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C8E624-FCA1-CCBF-F3E6-93FE6801EC03}"/>
              </a:ext>
            </a:extLst>
          </p:cNvPr>
          <p:cNvSpPr txBox="1"/>
          <p:nvPr/>
        </p:nvSpPr>
        <p:spPr>
          <a:xfrm>
            <a:off x="5633663" y="2931412"/>
            <a:ext cx="1544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Bloquea errores o permite registro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756F43-CE5A-BCA5-282E-7EC99F0FEA1B}"/>
              </a:ext>
            </a:extLst>
          </p:cNvPr>
          <p:cNvSpPr txBox="1"/>
          <p:nvPr/>
        </p:nvSpPr>
        <p:spPr>
          <a:xfrm>
            <a:off x="7437770" y="2931413"/>
            <a:ext cx="1459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Supervisor aprueba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1461C59-4803-A3A0-560C-C5EDADEF79F6}"/>
              </a:ext>
            </a:extLst>
          </p:cNvPr>
          <p:cNvSpPr txBox="1"/>
          <p:nvPr/>
        </p:nvSpPr>
        <p:spPr>
          <a:xfrm>
            <a:off x="9270886" y="2930297"/>
            <a:ext cx="1229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Base lista para condonar</a:t>
            </a:r>
          </a:p>
        </p:txBody>
      </p:sp>
      <p:pic>
        <p:nvPicPr>
          <p:cNvPr id="34" name="Gráfico 33" descr="Base de datos con relleno sólido">
            <a:extLst>
              <a:ext uri="{FF2B5EF4-FFF2-40B4-BE49-F238E27FC236}">
                <a16:creationId xmlns:a16="http://schemas.microsoft.com/office/drawing/2014/main" id="{0BE22EB8-33F3-1B1E-0F40-55860173C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99415" y="2049412"/>
            <a:ext cx="720000" cy="720000"/>
          </a:xfrm>
          <a:prstGeom prst="rect">
            <a:avLst/>
          </a:prstGeom>
        </p:spPr>
      </p:pic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0966525-5026-0534-452B-69251276411B}"/>
              </a:ext>
            </a:extLst>
          </p:cNvPr>
          <p:cNvCxnSpPr>
            <a:cxnSpLocks/>
          </p:cNvCxnSpPr>
          <p:nvPr/>
        </p:nvCxnSpPr>
        <p:spPr>
          <a:xfrm>
            <a:off x="597286" y="3706506"/>
            <a:ext cx="1030912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066406C-3459-60DF-39E4-EEF5437B6FAC}"/>
              </a:ext>
            </a:extLst>
          </p:cNvPr>
          <p:cNvSpPr txBox="1"/>
          <p:nvPr/>
        </p:nvSpPr>
        <p:spPr>
          <a:xfrm>
            <a:off x="737419" y="3779402"/>
            <a:ext cx="1544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gestor captura el CU o CJ del cliente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349C28D-789D-7191-26A4-459D715477F2}"/>
              </a:ext>
            </a:extLst>
          </p:cNvPr>
          <p:cNvSpPr txBox="1"/>
          <p:nvPr/>
        </p:nvSpPr>
        <p:spPr>
          <a:xfrm>
            <a:off x="2326044" y="3779402"/>
            <a:ext cx="1588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aplicación consulta y carga la información asociada al cliente de manera automática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5B7A01B-728E-C1B8-0529-5824362C3B8B}"/>
              </a:ext>
            </a:extLst>
          </p:cNvPr>
          <p:cNvSpPr txBox="1"/>
          <p:nvPr/>
        </p:nvSpPr>
        <p:spPr>
          <a:xfrm>
            <a:off x="4049491" y="3779402"/>
            <a:ext cx="13420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 valida que el cliente este en campaña activa y que cumpla con las condiciones de pago.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F3D7DCC-E071-2F63-8331-3670961DA362}"/>
              </a:ext>
            </a:extLst>
          </p:cNvPr>
          <p:cNvSpPr txBox="1"/>
          <p:nvPr/>
        </p:nvSpPr>
        <p:spPr>
          <a:xfrm>
            <a:off x="5589227" y="3779402"/>
            <a:ext cx="1588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 hay inconsistencias se bloquea el registro y se muestra el error. Si todo esta correcto se permite continuar.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D10DED1-4A09-07DE-41E7-46FC85D244A8}"/>
              </a:ext>
            </a:extLst>
          </p:cNvPr>
          <p:cNvSpPr txBox="1"/>
          <p:nvPr/>
        </p:nvSpPr>
        <p:spPr>
          <a:xfrm>
            <a:off x="7393334" y="3779402"/>
            <a:ext cx="14590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supervisor revisa la información y aprueba el registro para su procesamiento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31FA9CB-899A-BCC0-59E9-F742C606A7A6}"/>
              </a:ext>
            </a:extLst>
          </p:cNvPr>
          <p:cNvSpPr txBox="1"/>
          <p:nvPr/>
        </p:nvSpPr>
        <p:spPr>
          <a:xfrm>
            <a:off x="9169472" y="3764375"/>
            <a:ext cx="15441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información queda guardada y la base queda lista para el proceso de condonación</a:t>
            </a: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C8F811AB-F04A-2D30-094B-DDB3F51CCC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4074" y="3273332"/>
            <a:ext cx="314325" cy="752475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715BFBB9-AF56-F57D-CEE0-1006432B6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0973" y="3200882"/>
            <a:ext cx="314325" cy="752475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0424DF82-D9C9-7A54-05C4-42F492CB7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6377" y="3330268"/>
            <a:ext cx="314325" cy="752475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B3B10F95-6F94-3964-4138-A4F085D48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439" y="3253470"/>
            <a:ext cx="217403" cy="752475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55ABE91F-423F-EC5E-EA2E-D3294E07E0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9611" y="3330268"/>
            <a:ext cx="314325" cy="752475"/>
          </a:xfrm>
          <a:prstGeom prst="rect">
            <a:avLst/>
          </a:prstGeom>
        </p:spPr>
      </p:pic>
      <p:pic>
        <p:nvPicPr>
          <p:cNvPr id="64" name="Gráfico 63" descr="Usuario con relleno sólido">
            <a:extLst>
              <a:ext uri="{FF2B5EF4-FFF2-40B4-BE49-F238E27FC236}">
                <a16:creationId xmlns:a16="http://schemas.microsoft.com/office/drawing/2014/main" id="{759148FC-FED5-688B-DC49-09256C979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5644" y="2040512"/>
            <a:ext cx="720000" cy="720000"/>
          </a:xfrm>
          <a:prstGeom prst="rect">
            <a:avLst/>
          </a:prstGeom>
        </p:spPr>
      </p:pic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90DB474E-8907-D103-8EE1-2D48B423D5C6}"/>
              </a:ext>
            </a:extLst>
          </p:cNvPr>
          <p:cNvSpPr/>
          <p:nvPr/>
        </p:nvSpPr>
        <p:spPr>
          <a:xfrm>
            <a:off x="737419" y="5561505"/>
            <a:ext cx="10309123" cy="794962"/>
          </a:xfrm>
          <a:prstGeom prst="roundRect">
            <a:avLst>
              <a:gd name="adj" fmla="val 10181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6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4" name="Gráfico 73" descr="Ciclismo en compañía con relleno sólido">
            <a:extLst>
              <a:ext uri="{FF2B5EF4-FFF2-40B4-BE49-F238E27FC236}">
                <a16:creationId xmlns:a16="http://schemas.microsoft.com/office/drawing/2014/main" id="{653AAACF-10B3-0AE8-6949-0C24E6424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63510" y="5653236"/>
            <a:ext cx="576000" cy="576000"/>
          </a:xfrm>
          <a:prstGeom prst="rect">
            <a:avLst/>
          </a:prstGeom>
        </p:spPr>
      </p:pic>
      <p:pic>
        <p:nvPicPr>
          <p:cNvPr id="76" name="Gráfico 75" descr="Descargar desde la nube contorno">
            <a:extLst>
              <a:ext uri="{FF2B5EF4-FFF2-40B4-BE49-F238E27FC236}">
                <a16:creationId xmlns:a16="http://schemas.microsoft.com/office/drawing/2014/main" id="{1EA0F40A-C6CA-438B-2292-DFEAB20DC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0136" y="5672179"/>
            <a:ext cx="576000" cy="576000"/>
          </a:xfrm>
          <a:prstGeom prst="rect">
            <a:avLst/>
          </a:prstGeom>
        </p:spPr>
      </p:pic>
      <p:pic>
        <p:nvPicPr>
          <p:cNvPr id="78" name="Gráfico 77" descr="Marca de escudo con relleno sólido">
            <a:extLst>
              <a:ext uri="{FF2B5EF4-FFF2-40B4-BE49-F238E27FC236}">
                <a16:creationId xmlns:a16="http://schemas.microsoft.com/office/drawing/2014/main" id="{4C942331-6F24-3965-11BA-8D0FE7B84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7755" y="5669718"/>
            <a:ext cx="576000" cy="576000"/>
          </a:xfrm>
          <a:prstGeom prst="rect">
            <a:avLst/>
          </a:prstGeom>
        </p:spPr>
      </p:pic>
      <p:pic>
        <p:nvPicPr>
          <p:cNvPr id="80" name="Gráfico 79" descr="Portapapeles comprobado con relleno sólido">
            <a:extLst>
              <a:ext uri="{FF2B5EF4-FFF2-40B4-BE49-F238E27FC236}">
                <a16:creationId xmlns:a16="http://schemas.microsoft.com/office/drawing/2014/main" id="{E1388336-1FCF-FE82-A4DB-8427C6DFE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3818" y="5669718"/>
            <a:ext cx="576000" cy="576000"/>
          </a:xfrm>
          <a:prstGeom prst="rect">
            <a:avLst/>
          </a:prstGeom>
        </p:spPr>
      </p:pic>
      <p:sp>
        <p:nvSpPr>
          <p:cNvPr id="82" name="CuadroTexto 81">
            <a:extLst>
              <a:ext uri="{FF2B5EF4-FFF2-40B4-BE49-F238E27FC236}">
                <a16:creationId xmlns:a16="http://schemas.microsoft.com/office/drawing/2014/main" id="{D3E8606D-DF50-8C02-ED5F-108F988A5605}"/>
              </a:ext>
            </a:extLst>
          </p:cNvPr>
          <p:cNvSpPr txBox="1"/>
          <p:nvPr/>
        </p:nvSpPr>
        <p:spPr>
          <a:xfrm>
            <a:off x="1374182" y="5600833"/>
            <a:ext cx="1877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Menos Riesgos</a:t>
            </a:r>
            <a:b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Validaciones automáticas que reducen errores y fraudes.</a:t>
            </a:r>
            <a:endParaRPr lang="es-ES" sz="1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C0B29E8-D8FA-15F2-A77A-64453AB3EE5A}"/>
              </a:ext>
            </a:extLst>
          </p:cNvPr>
          <p:cNvSpPr txBox="1"/>
          <p:nvPr/>
        </p:nvSpPr>
        <p:spPr>
          <a:xfrm>
            <a:off x="4024911" y="5602926"/>
            <a:ext cx="1877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Trazabilidad</a:t>
            </a:r>
            <a:b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Registro y seguimiento de cada paso del proceso con responsables.</a:t>
            </a:r>
            <a:endParaRPr lang="es-ES" sz="1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63F3C5D1-F1EC-2E87-FD23-124E3BBE8BDB}"/>
              </a:ext>
            </a:extLst>
          </p:cNvPr>
          <p:cNvSpPr txBox="1"/>
          <p:nvPr/>
        </p:nvSpPr>
        <p:spPr>
          <a:xfrm>
            <a:off x="6685773" y="5590345"/>
            <a:ext cx="1877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Exportación controlada</a:t>
            </a:r>
            <a:b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Datos listos para exportar con criterios y permisos</a:t>
            </a:r>
            <a:endParaRPr lang="es-ES" sz="1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18E67B76-5528-ADD6-F83B-A33F9635D716}"/>
              </a:ext>
            </a:extLst>
          </p:cNvPr>
          <p:cNvSpPr txBox="1"/>
          <p:nvPr/>
        </p:nvSpPr>
        <p:spPr>
          <a:xfrm>
            <a:off x="9103936" y="5592099"/>
            <a:ext cx="1877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Vista Gerencial</a:t>
            </a:r>
            <a:b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Información consolidada para una mejor toma de decisiones</a:t>
            </a:r>
            <a:endParaRPr lang="es-ES" sz="1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0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6EFE-DFC8-2510-98C7-4801A1D4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DC4948F5-D518-5D04-B45A-A10164B4FFF8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9762456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4000" dirty="0">
                <a:solidFill>
                  <a:srgbClr val="001C52"/>
                </a:solidFill>
              </a:rPr>
              <a:t>Ahorro de tiempo y productividad</a:t>
            </a:r>
            <a:endParaRPr lang="es-PE" sz="1600" b="0" dirty="0">
              <a:solidFill>
                <a:srgbClr val="008F28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B76965-2351-14A8-4C9F-6798E46C108A}"/>
              </a:ext>
            </a:extLst>
          </p:cNvPr>
          <p:cNvSpPr txBox="1"/>
          <p:nvPr/>
        </p:nvSpPr>
        <p:spPr>
          <a:xfrm>
            <a:off x="644909" y="1326495"/>
            <a:ext cx="7034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Buscamos no solo reducir el riesgo operativo, sino también liberar tiempo para actividades de mayor valor.</a:t>
            </a:r>
            <a:endParaRPr lang="es-PE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BA66773-CFDC-BD2E-F446-A4DDCB299F63}"/>
              </a:ext>
            </a:extLst>
          </p:cNvPr>
          <p:cNvSpPr/>
          <p:nvPr/>
        </p:nvSpPr>
        <p:spPr>
          <a:xfrm>
            <a:off x="639097" y="5842770"/>
            <a:ext cx="10913806" cy="821023"/>
          </a:xfrm>
          <a:prstGeom prst="roundRect">
            <a:avLst>
              <a:gd name="adj" fmla="val 5979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6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A582D02-BE44-740D-208D-B060B4348404}"/>
              </a:ext>
            </a:extLst>
          </p:cNvPr>
          <p:cNvSpPr/>
          <p:nvPr/>
        </p:nvSpPr>
        <p:spPr>
          <a:xfrm>
            <a:off x="639097" y="4757430"/>
            <a:ext cx="10913806" cy="824115"/>
          </a:xfrm>
          <a:prstGeom prst="roundRect">
            <a:avLst>
              <a:gd name="adj" fmla="val 5979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6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B8720EA-41FE-4725-2DC7-FCB20D070998}"/>
              </a:ext>
            </a:extLst>
          </p:cNvPr>
          <p:cNvSpPr/>
          <p:nvPr/>
        </p:nvSpPr>
        <p:spPr>
          <a:xfrm>
            <a:off x="8074407" y="1665770"/>
            <a:ext cx="3380411" cy="2617996"/>
          </a:xfrm>
          <a:prstGeom prst="roundRect">
            <a:avLst>
              <a:gd name="adj" fmla="val 5979"/>
            </a:avLst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6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124E8D8-76CC-824B-074C-A0D3398553B5}"/>
              </a:ext>
            </a:extLst>
          </p:cNvPr>
          <p:cNvSpPr txBox="1"/>
          <p:nvPr/>
        </p:nvSpPr>
        <p:spPr>
          <a:xfrm>
            <a:off x="1450399" y="4911551"/>
            <a:ext cx="936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Reducción del tiempo de gestión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747DFD0-42EC-4459-8CC0-EBFFAC22F2BF}"/>
              </a:ext>
            </a:extLst>
          </p:cNvPr>
          <p:cNvSpPr txBox="1"/>
          <p:nvPr/>
        </p:nvSpPr>
        <p:spPr>
          <a:xfrm>
            <a:off x="4183276" y="4916164"/>
            <a:ext cx="1912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Enfoque del supervisor en casos críticos</a:t>
            </a:r>
          </a:p>
          <a:p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 revisar todo a revisar excepciones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046C043-A1A8-E787-A868-AE864B43E309}"/>
              </a:ext>
            </a:extLst>
          </p:cNvPr>
          <p:cNvSpPr txBox="1"/>
          <p:nvPr/>
        </p:nvSpPr>
        <p:spPr>
          <a:xfrm>
            <a:off x="6717459" y="4911551"/>
            <a:ext cx="19127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Menor riesgo operativo</a:t>
            </a:r>
          </a:p>
          <a:p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Validaciones automáticas y controles integrados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DA2D2EF-52C9-5310-01A2-CA521841BDCB}"/>
              </a:ext>
            </a:extLst>
          </p:cNvPr>
          <p:cNvSpPr txBox="1"/>
          <p:nvPr/>
        </p:nvSpPr>
        <p:spPr>
          <a:xfrm>
            <a:off x="9450336" y="4916164"/>
            <a:ext cx="2102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Tiempo recuperado para actividades de mayor valor</a:t>
            </a:r>
          </a:p>
          <a:p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Análisis, seguimiento, coaching y control</a:t>
            </a:r>
          </a:p>
        </p:txBody>
      </p:sp>
      <p:pic>
        <p:nvPicPr>
          <p:cNvPr id="30" name="Gráfico 29" descr="Marca de escudo con relleno sólido">
            <a:extLst>
              <a:ext uri="{FF2B5EF4-FFF2-40B4-BE49-F238E27FC236}">
                <a16:creationId xmlns:a16="http://schemas.microsoft.com/office/drawing/2014/main" id="{236C9367-16BC-995C-D6BE-570C3F97A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8488" y="4873659"/>
            <a:ext cx="576000" cy="576000"/>
          </a:xfrm>
          <a:prstGeom prst="rect">
            <a:avLst/>
          </a:prstGeom>
        </p:spPr>
      </p:pic>
      <p:pic>
        <p:nvPicPr>
          <p:cNvPr id="32" name="Gráfico 31" descr="Gráfico de barras con tendencia bajista con relleno sólido">
            <a:extLst>
              <a:ext uri="{FF2B5EF4-FFF2-40B4-BE49-F238E27FC236}">
                <a16:creationId xmlns:a16="http://schemas.microsoft.com/office/drawing/2014/main" id="{B83FA6D0-4704-517C-76AC-C0D0F173F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98" y="4913043"/>
            <a:ext cx="648000" cy="648000"/>
          </a:xfrm>
          <a:prstGeom prst="rect">
            <a:avLst/>
          </a:prstGeom>
        </p:spPr>
      </p:pic>
      <p:pic>
        <p:nvPicPr>
          <p:cNvPr id="34" name="Gráfico 33" descr="Brindis con relleno sólido">
            <a:extLst>
              <a:ext uri="{FF2B5EF4-FFF2-40B4-BE49-F238E27FC236}">
                <a16:creationId xmlns:a16="http://schemas.microsoft.com/office/drawing/2014/main" id="{3DD04D54-A45D-E24D-C741-83CEEA2E8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2094" y="4957602"/>
            <a:ext cx="540000" cy="540000"/>
          </a:xfrm>
          <a:prstGeom prst="rect">
            <a:avLst/>
          </a:prstGeom>
        </p:spPr>
      </p:pic>
      <p:pic>
        <p:nvPicPr>
          <p:cNvPr id="36" name="Gráfico 35" descr="Cronómetro con relleno sólido">
            <a:extLst>
              <a:ext uri="{FF2B5EF4-FFF2-40B4-BE49-F238E27FC236}">
                <a16:creationId xmlns:a16="http://schemas.microsoft.com/office/drawing/2014/main" id="{86E4A6D9-573A-B685-6ED3-6F9D071CB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2335" y="4866150"/>
            <a:ext cx="648000" cy="648000"/>
          </a:xfrm>
          <a:prstGeom prst="rect">
            <a:avLst/>
          </a:prstGeom>
        </p:spPr>
      </p:pic>
      <p:pic>
        <p:nvPicPr>
          <p:cNvPr id="40" name="Gráfico 39" descr="Gráfico de barras con tendencia bajista con relleno sólido">
            <a:extLst>
              <a:ext uri="{FF2B5EF4-FFF2-40B4-BE49-F238E27FC236}">
                <a16:creationId xmlns:a16="http://schemas.microsoft.com/office/drawing/2014/main" id="{17C198EE-4168-2A8D-87BC-F44BAC8F3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4315" y="5991427"/>
            <a:ext cx="648000" cy="648000"/>
          </a:xfrm>
          <a:prstGeom prst="rect">
            <a:avLst/>
          </a:prstGeom>
        </p:spPr>
      </p:pic>
      <p:pic>
        <p:nvPicPr>
          <p:cNvPr id="42" name="Gráfico 41" descr="Cronómetro con relleno sólido">
            <a:extLst>
              <a:ext uri="{FF2B5EF4-FFF2-40B4-BE49-F238E27FC236}">
                <a16:creationId xmlns:a16="http://schemas.microsoft.com/office/drawing/2014/main" id="{DE73DBD0-49A1-6725-0A0D-6A20CB78C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398" y="5955427"/>
            <a:ext cx="648000" cy="648000"/>
          </a:xfrm>
          <a:prstGeom prst="rect">
            <a:avLst/>
          </a:prstGeom>
        </p:spPr>
      </p:pic>
      <p:pic>
        <p:nvPicPr>
          <p:cNvPr id="44" name="Gráfico 43" descr="Portapapeles comprobado con relleno sólido">
            <a:extLst>
              <a:ext uri="{FF2B5EF4-FFF2-40B4-BE49-F238E27FC236}">
                <a16:creationId xmlns:a16="http://schemas.microsoft.com/office/drawing/2014/main" id="{451CC237-6B3C-F6FE-761C-2A313C399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9695" y="5963416"/>
            <a:ext cx="648000" cy="648000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A4049BE2-EDFA-94B0-715B-6A7BDFD0A58D}"/>
              </a:ext>
            </a:extLst>
          </p:cNvPr>
          <p:cNvSpPr txBox="1"/>
          <p:nvPr/>
        </p:nvSpPr>
        <p:spPr>
          <a:xfrm>
            <a:off x="4291164" y="5675690"/>
            <a:ext cx="312125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BENEFICIOS CUANTIFICABLES</a:t>
            </a:r>
            <a:endParaRPr lang="es-PE" sz="1400" b="1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7" name="Gráfico 46" descr="Marca de escudo con relleno sólido">
            <a:extLst>
              <a:ext uri="{FF2B5EF4-FFF2-40B4-BE49-F238E27FC236}">
                <a16:creationId xmlns:a16="http://schemas.microsoft.com/office/drawing/2014/main" id="{FC48616E-C8F8-F27C-E895-76FAB2499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8488" y="6012679"/>
            <a:ext cx="576000" cy="576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4FDA779F-1DBE-DCBE-E19F-D1687FFACC97}"/>
              </a:ext>
            </a:extLst>
          </p:cNvPr>
          <p:cNvSpPr txBox="1"/>
          <p:nvPr/>
        </p:nvSpPr>
        <p:spPr>
          <a:xfrm>
            <a:off x="2348641" y="4957602"/>
            <a:ext cx="936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-73%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0CD384B-55E5-CCAF-EDD7-8588EAE8F2A0}"/>
              </a:ext>
            </a:extLst>
          </p:cNvPr>
          <p:cNvSpPr txBox="1"/>
          <p:nvPr/>
        </p:nvSpPr>
        <p:spPr>
          <a:xfrm>
            <a:off x="2219388" y="5266770"/>
            <a:ext cx="12774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(De 11min a 3 min)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6212E9-FB3C-EDE9-892C-600BE096237A}"/>
              </a:ext>
            </a:extLst>
          </p:cNvPr>
          <p:cNvSpPr txBox="1"/>
          <p:nvPr/>
        </p:nvSpPr>
        <p:spPr>
          <a:xfrm>
            <a:off x="1437085" y="6100624"/>
            <a:ext cx="839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66.7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DC79E16-40FE-06FF-9A26-C28205635B0F}"/>
              </a:ext>
            </a:extLst>
          </p:cNvPr>
          <p:cNvSpPr txBox="1"/>
          <p:nvPr/>
        </p:nvSpPr>
        <p:spPr>
          <a:xfrm>
            <a:off x="4242351" y="6080583"/>
            <a:ext cx="936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73%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82A9604-DC57-B6BD-7B59-4E0F045E5F36}"/>
              </a:ext>
            </a:extLst>
          </p:cNvPr>
          <p:cNvSpPr txBox="1"/>
          <p:nvPr/>
        </p:nvSpPr>
        <p:spPr>
          <a:xfrm>
            <a:off x="6737429" y="6051263"/>
            <a:ext cx="936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8FE6BDE-B242-3E2D-367E-1BB879BFF6F3}"/>
              </a:ext>
            </a:extLst>
          </p:cNvPr>
          <p:cNvSpPr txBox="1"/>
          <p:nvPr/>
        </p:nvSpPr>
        <p:spPr>
          <a:xfrm>
            <a:off x="9450335" y="6095968"/>
            <a:ext cx="936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100%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52914A8-A4FF-977B-7A25-5E8AACE2A104}"/>
              </a:ext>
            </a:extLst>
          </p:cNvPr>
          <p:cNvSpPr txBox="1"/>
          <p:nvPr/>
        </p:nvSpPr>
        <p:spPr>
          <a:xfrm>
            <a:off x="2118223" y="5963416"/>
            <a:ext cx="129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Horas al mes</a:t>
            </a:r>
          </a:p>
          <a:p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Ahorro estimado de horas -  hombre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66CC32E-4310-339F-7A69-ED8CB8F979AE}"/>
              </a:ext>
            </a:extLst>
          </p:cNvPr>
          <p:cNvSpPr txBox="1"/>
          <p:nvPr/>
        </p:nvSpPr>
        <p:spPr>
          <a:xfrm>
            <a:off x="4877334" y="5952806"/>
            <a:ext cx="12729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Reducción del tiempo </a:t>
            </a:r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gestión del proceso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A9A7C2C-2CCD-7B21-3B8E-918994E69DFD}"/>
              </a:ext>
            </a:extLst>
          </p:cNvPr>
          <p:cNvSpPr txBox="1"/>
          <p:nvPr/>
        </p:nvSpPr>
        <p:spPr>
          <a:xfrm>
            <a:off x="7037356" y="5936771"/>
            <a:ext cx="1802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Condonaciones incorrectas por pago insuficiente.</a:t>
            </a:r>
          </a:p>
          <a:p>
            <a:r>
              <a:rPr lang="es-ES" sz="10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Validación automática.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5003C56-A609-34CA-7EFD-FA9976BF2EA8}"/>
              </a:ext>
            </a:extLst>
          </p:cNvPr>
          <p:cNvSpPr txBox="1"/>
          <p:nvPr/>
        </p:nvSpPr>
        <p:spPr>
          <a:xfrm>
            <a:off x="10177993" y="6026720"/>
            <a:ext cx="1211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Trazabilidad y reportería automática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4F33024-A116-597E-B9F7-E78C2A87D0A8}"/>
              </a:ext>
            </a:extLst>
          </p:cNvPr>
          <p:cNvSpPr txBox="1"/>
          <p:nvPr/>
        </p:nvSpPr>
        <p:spPr>
          <a:xfrm>
            <a:off x="4242351" y="4559829"/>
            <a:ext cx="312125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IMPACTO DEL PROYECTO</a:t>
            </a:r>
            <a:endParaRPr lang="es-PE" sz="1400" b="1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74" name="Tabla 73">
            <a:extLst>
              <a:ext uri="{FF2B5EF4-FFF2-40B4-BE49-F238E27FC236}">
                <a16:creationId xmlns:a16="http://schemas.microsoft.com/office/drawing/2014/main" id="{C07A198C-D267-7EB3-7CFB-EAC02ACF2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71129"/>
              </p:ext>
            </p:extLst>
          </p:nvPr>
        </p:nvGraphicFramePr>
        <p:xfrm>
          <a:off x="737182" y="2131114"/>
          <a:ext cx="3299217" cy="2321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5424">
                  <a:extLst>
                    <a:ext uri="{9D8B030D-6E8A-4147-A177-3AD203B41FA5}">
                      <a16:colId xmlns:a16="http://schemas.microsoft.com/office/drawing/2014/main" val="2930948491"/>
                    </a:ext>
                  </a:extLst>
                </a:gridCol>
                <a:gridCol w="2035278">
                  <a:extLst>
                    <a:ext uri="{9D8B030D-6E8A-4147-A177-3AD203B41FA5}">
                      <a16:colId xmlns:a16="http://schemas.microsoft.com/office/drawing/2014/main" val="3969365269"/>
                    </a:ext>
                  </a:extLst>
                </a:gridCol>
                <a:gridCol w="688515">
                  <a:extLst>
                    <a:ext uri="{9D8B030D-6E8A-4147-A177-3AD203B41FA5}">
                      <a16:colId xmlns:a16="http://schemas.microsoft.com/office/drawing/2014/main" val="1009603269"/>
                    </a:ext>
                  </a:extLst>
                </a:gridCol>
              </a:tblGrid>
              <a:tr h="538344">
                <a:tc gridSpan="3"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Proceso actual (manual)</a:t>
                      </a:r>
                      <a:endParaRPr lang="es-PE" sz="1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50401"/>
                  </a:ext>
                </a:extLst>
              </a:tr>
              <a:tr h="426714">
                <a:tc>
                  <a:txBody>
                    <a:bodyPr/>
                    <a:lstStyle/>
                    <a:p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Gestor completa Excel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 min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997222"/>
                  </a:ext>
                </a:extLst>
              </a:tr>
              <a:tr h="464854">
                <a:tc>
                  <a:txBody>
                    <a:bodyPr/>
                    <a:lstStyle/>
                    <a:p>
                      <a:endParaRPr lang="es-PE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Supervisor revisa y valida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 min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880396"/>
                  </a:ext>
                </a:extLst>
              </a:tr>
              <a:tr h="464854">
                <a:tc>
                  <a:txBody>
                    <a:bodyPr/>
                    <a:lstStyle/>
                    <a:p>
                      <a:endParaRPr lang="es-PE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Consolidación y preparación para envio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 min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65442"/>
                  </a:ext>
                </a:extLst>
              </a:tr>
              <a:tr h="426714">
                <a:tc gridSpan="3">
                  <a:txBody>
                    <a:bodyPr/>
                    <a:lstStyle/>
                    <a:p>
                      <a:pPr algn="ctr"/>
                      <a:r>
                        <a:rPr lang="es-ES" sz="1400" b="1" kern="1200" dirty="0">
                          <a:solidFill>
                            <a:srgbClr val="00206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ACTUAL   11min</a:t>
                      </a:r>
                      <a:endParaRPr lang="es-PE" sz="1400" b="1" kern="1200" dirty="0">
                        <a:solidFill>
                          <a:srgbClr val="00206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70086"/>
                  </a:ext>
                </a:extLst>
              </a:tr>
            </a:tbl>
          </a:graphicData>
        </a:graphic>
      </p:graphicFrame>
      <p:graphicFrame>
        <p:nvGraphicFramePr>
          <p:cNvPr id="76" name="Tabla 75">
            <a:extLst>
              <a:ext uri="{FF2B5EF4-FFF2-40B4-BE49-F238E27FC236}">
                <a16:creationId xmlns:a16="http://schemas.microsoft.com/office/drawing/2014/main" id="{108631C8-D946-77C5-ECEB-5D64E6A9F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75181"/>
              </p:ext>
            </p:extLst>
          </p:nvPr>
        </p:nvGraphicFramePr>
        <p:xfrm>
          <a:off x="4512215" y="2129990"/>
          <a:ext cx="3299217" cy="21537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05475">
                  <a:extLst>
                    <a:ext uri="{9D8B030D-6E8A-4147-A177-3AD203B41FA5}">
                      <a16:colId xmlns:a16="http://schemas.microsoft.com/office/drawing/2014/main" val="2930948491"/>
                    </a:ext>
                  </a:extLst>
                </a:gridCol>
                <a:gridCol w="1814052">
                  <a:extLst>
                    <a:ext uri="{9D8B030D-6E8A-4147-A177-3AD203B41FA5}">
                      <a16:colId xmlns:a16="http://schemas.microsoft.com/office/drawing/2014/main" val="3969365269"/>
                    </a:ext>
                  </a:extLst>
                </a:gridCol>
                <a:gridCol w="879690">
                  <a:extLst>
                    <a:ext uri="{9D8B030D-6E8A-4147-A177-3AD203B41FA5}">
                      <a16:colId xmlns:a16="http://schemas.microsoft.com/office/drawing/2014/main" val="1009603269"/>
                    </a:ext>
                  </a:extLst>
                </a:gridCol>
              </a:tblGrid>
              <a:tr h="36248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kern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 la Web (automatizado)</a:t>
                      </a:r>
                      <a:endParaRPr lang="es-PE" sz="1400" b="1" kern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50401"/>
                  </a:ext>
                </a:extLst>
              </a:tr>
              <a:tr h="419688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Gestor Registra en la web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 min</a:t>
                      </a:r>
                      <a:endParaRPr lang="es-PE" sz="1200" kern="1200" dirty="0">
                        <a:solidFill>
                          <a:schemeClr val="dk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997222"/>
                  </a:ext>
                </a:extLst>
              </a:tr>
              <a:tr h="419688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Validación automática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 min</a:t>
                      </a:r>
                      <a:endParaRPr lang="es-PE" sz="1200" kern="1200" dirty="0">
                        <a:solidFill>
                          <a:schemeClr val="dk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880396"/>
                  </a:ext>
                </a:extLst>
              </a:tr>
              <a:tr h="419688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Supervisor revisa excepciones</a:t>
                      </a:r>
                      <a:endParaRPr lang="es-PE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 min</a:t>
                      </a:r>
                      <a:endParaRPr lang="es-PE" sz="1200" kern="1200" dirty="0">
                        <a:solidFill>
                          <a:schemeClr val="dk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65442"/>
                  </a:ext>
                </a:extLst>
              </a:tr>
              <a:tr h="4196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kern="1200" dirty="0">
                          <a:solidFill>
                            <a:srgbClr val="00206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FUTURO   3min</a:t>
                      </a:r>
                      <a:endParaRPr lang="es-PE" sz="1400" b="1" kern="1200" dirty="0">
                        <a:solidFill>
                          <a:srgbClr val="00206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70086"/>
                  </a:ext>
                </a:extLst>
              </a:tr>
            </a:tbl>
          </a:graphicData>
        </a:graphic>
      </p:graphicFrame>
      <p:sp>
        <p:nvSpPr>
          <p:cNvPr id="82" name="CuadroTexto 81">
            <a:extLst>
              <a:ext uri="{FF2B5EF4-FFF2-40B4-BE49-F238E27FC236}">
                <a16:creationId xmlns:a16="http://schemas.microsoft.com/office/drawing/2014/main" id="{66757E5D-C54F-AB28-6CD0-2E4DA6E86A9D}"/>
              </a:ext>
            </a:extLst>
          </p:cNvPr>
          <p:cNvSpPr txBox="1"/>
          <p:nvPr/>
        </p:nvSpPr>
        <p:spPr>
          <a:xfrm>
            <a:off x="8333567" y="1809778"/>
            <a:ext cx="290131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AHORRO POR SOLICITUD</a:t>
            </a:r>
            <a:endParaRPr lang="es-PE" sz="14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4" name="Gráfico 83" descr="Cronómetro con relleno sólido">
            <a:extLst>
              <a:ext uri="{FF2B5EF4-FFF2-40B4-BE49-F238E27FC236}">
                <a16:creationId xmlns:a16="http://schemas.microsoft.com/office/drawing/2014/main" id="{1452A80D-B5D6-AE7D-8E8E-A7D633157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1903" y="2226275"/>
            <a:ext cx="540000" cy="540000"/>
          </a:xfrm>
          <a:prstGeom prst="rect">
            <a:avLst/>
          </a:prstGeom>
        </p:spPr>
      </p:pic>
      <p:sp>
        <p:nvSpPr>
          <p:cNvPr id="86" name="CuadroTexto 85">
            <a:extLst>
              <a:ext uri="{FF2B5EF4-FFF2-40B4-BE49-F238E27FC236}">
                <a16:creationId xmlns:a16="http://schemas.microsoft.com/office/drawing/2014/main" id="{E81AC183-D6EB-5D2B-4634-C143B6CEF9A5}"/>
              </a:ext>
            </a:extLst>
          </p:cNvPr>
          <p:cNvSpPr txBox="1"/>
          <p:nvPr/>
        </p:nvSpPr>
        <p:spPr>
          <a:xfrm>
            <a:off x="8981903" y="2105264"/>
            <a:ext cx="2078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r>
              <a:rPr lang="es-ES" sz="20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min</a:t>
            </a:r>
          </a:p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 ahorro por solicitud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C32BDDF-C86E-D155-5DE4-1A4AE5193517}"/>
              </a:ext>
            </a:extLst>
          </p:cNvPr>
          <p:cNvSpPr txBox="1"/>
          <p:nvPr/>
        </p:nvSpPr>
        <p:spPr>
          <a:xfrm>
            <a:off x="8181564" y="3011008"/>
            <a:ext cx="13813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 al mes se procesan</a:t>
            </a:r>
            <a:endParaRPr lang="es-ES" sz="30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ES" sz="28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300</a:t>
            </a:r>
          </a:p>
          <a:p>
            <a:pPr algn="ctr"/>
            <a:r>
              <a:rPr lang="es-ES" sz="1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condonaciones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BE06BF4-CE68-8384-4E12-4BF396D73673}"/>
              </a:ext>
            </a:extLst>
          </p:cNvPr>
          <p:cNvSpPr txBox="1"/>
          <p:nvPr/>
        </p:nvSpPr>
        <p:spPr>
          <a:xfrm>
            <a:off x="9860691" y="3011008"/>
            <a:ext cx="138132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2,400</a:t>
            </a:r>
            <a:r>
              <a:rPr lang="es-E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min</a:t>
            </a:r>
          </a:p>
          <a:p>
            <a:pPr algn="ctr"/>
            <a:r>
              <a:rPr lang="es-ES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</a:t>
            </a:r>
            <a:r>
              <a:rPr lang="es-E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horas</a:t>
            </a:r>
          </a:p>
          <a:p>
            <a:pPr algn="ctr"/>
            <a:r>
              <a:rPr lang="es-ES" sz="11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(casi 5 jornadas laborales)</a:t>
            </a:r>
          </a:p>
        </p:txBody>
      </p:sp>
    </p:spTree>
    <p:extLst>
      <p:ext uri="{BB962C8B-B14F-4D97-AF65-F5344CB8AC3E}">
        <p14:creationId xmlns:p14="http://schemas.microsoft.com/office/powerpoint/2010/main" val="49806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A1BFF0C-F328-033B-98EB-1B2AF111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98" y="813031"/>
            <a:ext cx="10821334" cy="5868186"/>
          </a:xfrm>
          <a:prstGeom prst="rect">
            <a:avLst/>
          </a:prstGeom>
        </p:spPr>
      </p:pic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1F2D044A-754B-FFD3-B63B-90BE850D6277}"/>
              </a:ext>
            </a:extLst>
          </p:cNvPr>
          <p:cNvSpPr txBox="1">
            <a:spLocks/>
          </p:cNvSpPr>
          <p:nvPr/>
        </p:nvSpPr>
        <p:spPr>
          <a:xfrm>
            <a:off x="436280" y="176783"/>
            <a:ext cx="9762456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4000" dirty="0">
                <a:solidFill>
                  <a:srgbClr val="001C52"/>
                </a:solidFill>
              </a:rPr>
              <a:t>Vista Supervisor</a:t>
            </a:r>
            <a:endParaRPr lang="es-PE" sz="1600" dirty="0">
              <a:solidFill>
                <a:srgbClr val="008F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24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C80465-217C-61BD-3336-6553A88F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2" y="789218"/>
            <a:ext cx="11283767" cy="49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3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87C4AC2-CB04-68F7-C3E3-8E4E3F8E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90" y="889179"/>
            <a:ext cx="11573230" cy="5968821"/>
          </a:xfrm>
          <a:prstGeom prst="rect">
            <a:avLst/>
          </a:prstGeom>
        </p:spPr>
      </p:pic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1796C0AC-4A8A-9320-3672-181436F48B0A}"/>
              </a:ext>
            </a:extLst>
          </p:cNvPr>
          <p:cNvSpPr txBox="1">
            <a:spLocks/>
          </p:cNvSpPr>
          <p:nvPr/>
        </p:nvSpPr>
        <p:spPr>
          <a:xfrm>
            <a:off x="436280" y="176783"/>
            <a:ext cx="9762456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ES" sz="4000" dirty="0">
                <a:solidFill>
                  <a:srgbClr val="001C52"/>
                </a:solidFill>
              </a:rPr>
              <a:t>Vista Gestor</a:t>
            </a:r>
            <a:endParaRPr lang="es-PE" sz="1600" dirty="0">
              <a:solidFill>
                <a:srgbClr val="008F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13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</TotalTime>
  <Words>418</Words>
  <Application>Microsoft Office PowerPoint</Application>
  <PresentationFormat>Panorámica</PresentationFormat>
  <Paragraphs>84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Poppins</vt:lpstr>
      <vt:lpstr>Tema de Office</vt:lpstr>
      <vt:lpstr>Web de Condonaciones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Zevallos Durand, Grethel Narciza</dc:creator>
  <cp:lastModifiedBy>Ayala Quijano, Jean Paul</cp:lastModifiedBy>
  <cp:revision>2</cp:revision>
  <dcterms:created xsi:type="dcterms:W3CDTF">2026-06-25T16:56:20Z</dcterms:created>
  <dcterms:modified xsi:type="dcterms:W3CDTF">2026-08-04T16:04:25Z</dcterms:modified>
</cp:coreProperties>
</file>